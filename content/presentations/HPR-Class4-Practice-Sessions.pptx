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one line about why you signed up for HPR — your ponies, your Clydesdales, and kids who need a different way into reading. Keep it under 30 seconds, then go straight to the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each card from your session journals. If you worked with the same child both times, say so here — it sets up the “building on session 1”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class through Word Racer in about a minute: word cards taped to the cones, Magic E wand in hand. Charlie the Fjord walked the line and stopped to pick each card. Charlie read the short vowel word, tapped it with the wand, and read the new word: tap to tape, kit to kite. He set the pace, which kept her from rushing. About 45 seconds here, then the reflections carry the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boxes answer Ruth's prompts directly: the ah-ha moment, what you learned, and the horse holding space / giving feedback. One or two sentences each — a specific detail (what the horse did with its body, the exact words the child used) lands better than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class through Special Delivery in about a minute: a toy mailbox with W on the front, phonogram discs beside it. Charlie tested each disc against the W, sounded out the pair, and ruled real or silly. Real words got mailed: wash, way, wow. Sillies got tossed, and wame drew the biggest laugh. One disc sat upside down until she flipped it and found wow. She kept count to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boxes answer Ruth's prompts directly: the ah-ha moment, what you learned, and the horse holding space / giving feedback. One or two sentences each — a specific detail (what the horse did with its body, the exact words the child used) lands better than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Ruth asked for one metaphor from your sessions, described. Pick the one that gave you goosebumps. Say the metaphor, pause, then explain it — don't rush this slide, it's the emotional center of your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GLOW / GROW self-reflection another participant shared. Fill it across both sessions — you don't need one per session. Be honest in the “Me · Grow” box; that's the one the class learns most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where you want to take HPR: your own herd, your own community, Tribal Cowboy's school programs. This is also your invitation to the class — you're building this in North Idaho and open to brainstorming at the live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sp>
        <p:nvSpPr>
          <p:cNvPr id="4" name="Shape 2"/>
          <p:cNvSpPr/>
          <p:nvPr/>
        </p:nvSpPr>
        <p:spPr>
          <a:xfrm>
            <a:off x="457200" y="128016"/>
            <a:ext cx="8229600" cy="0"/>
          </a:xfrm>
          <a:prstGeom prst="line">
            <a:avLst/>
          </a:prstGeom>
          <a:noFill/>
          <a:ln w="12700">
            <a:solidFill>
              <a:srgbClr val="C8A96E">
                <a:alpha val="50000"/>
              </a:srgbClr>
            </a:solidFill>
            <a:prstDash val="solid"/>
          </a:ln>
        </p:spPr>
      </p:sp>
      <p:sp>
        <p:nvSpPr>
          <p:cNvPr id="5" name="Shape 3"/>
          <p:cNvSpPr/>
          <p:nvPr/>
        </p:nvSpPr>
        <p:spPr>
          <a:xfrm>
            <a:off x="457200" y="5015484"/>
            <a:ext cx="8229600" cy="0"/>
          </a:xfrm>
          <a:prstGeom prst="line">
            <a:avLst/>
          </a:prstGeom>
          <a:noFill/>
          <a:ln w="12700">
            <a:solidFill>
              <a:srgbClr val="C8A96E">
                <a:alpha val="50000"/>
              </a:srgbClr>
            </a:solidFill>
            <a:prstDash val="solid"/>
          </a:ln>
        </p:spPr>
      </p:sp>
      <p:pic>
        <p:nvPicPr>
          <p:cNvPr id="6" name="Image 0" descr="preencoded.png">    </p:cNvPr>
          <p:cNvPicPr>
            <a:picLocks noChangeAspect="1"/>
          </p:cNvPicPr>
          <p:nvPr/>
        </p:nvPicPr>
        <p:blipFill>
          <a:blip r:embed="rId1"/>
          <a:stretch>
            <a:fillRect/>
          </a:stretch>
        </p:blipFill>
        <p:spPr>
          <a:xfrm>
            <a:off x="3886200" y="384048"/>
            <a:ext cx="1371600" cy="1371600"/>
          </a:xfrm>
          <a:prstGeom prst="rect">
            <a:avLst/>
          </a:prstGeom>
        </p:spPr>
      </p:pic>
      <p:sp>
        <p:nvSpPr>
          <p:cNvPr id="7" name="Text 4"/>
          <p:cNvSpPr/>
          <p:nvPr/>
        </p:nvSpPr>
        <p:spPr>
          <a:xfrm>
            <a:off x="914400" y="1874520"/>
            <a:ext cx="7315200" cy="320040"/>
          </a:xfrm>
          <a:prstGeom prst="rect">
            <a:avLst/>
          </a:prstGeom>
          <a:noFill/>
          <a:ln/>
        </p:spPr>
        <p:txBody>
          <a:bodyPr wrap="square" lIns="0" tIns="0" rIns="0" bIns="0" rtlCol="0" anchor="ctr"/>
          <a:lstStyle/>
          <a:p>
            <a:pPr algn="ctr" indent="0" marL="0">
              <a:buNone/>
            </a:pPr>
            <a:r>
              <a:rPr lang="en-US" sz="1200" b="1" spc="400" kern="0" dirty="0">
                <a:solidFill>
                  <a:srgbClr val="D4A843"/>
                </a:solidFill>
                <a:latin typeface="Trebuchet MS" pitchFamily="34" charset="0"/>
                <a:ea typeface="Trebuchet MS" pitchFamily="34" charset="-122"/>
                <a:cs typeface="Trebuchet MS" pitchFamily="34" charset="-120"/>
              </a:rPr>
              <a:t>HORSE POWERED READING  ·  CLASS #4</a:t>
            </a:r>
            <a:endParaRPr lang="en-US" sz="1200" dirty="0"/>
          </a:p>
        </p:txBody>
      </p:sp>
      <p:sp>
        <p:nvSpPr>
          <p:cNvPr id="8" name="Text 5"/>
          <p:cNvSpPr/>
          <p:nvPr/>
        </p:nvSpPr>
        <p:spPr>
          <a:xfrm>
            <a:off x="640080" y="2212848"/>
            <a:ext cx="7863840" cy="914400"/>
          </a:xfrm>
          <a:prstGeom prst="rect">
            <a:avLst/>
          </a:prstGeom>
          <a:noFill/>
          <a:ln/>
        </p:spPr>
        <p:txBody>
          <a:bodyPr wrap="square" lIns="0" tIns="0" rIns="0" bIns="0" rtlCol="0" anchor="ctr"/>
          <a:lstStyle/>
          <a:p>
            <a:pPr algn="ctr" indent="0" marL="0">
              <a:buNone/>
            </a:pPr>
            <a:r>
              <a:rPr lang="en-US" sz="3200" dirty="0">
                <a:solidFill>
                  <a:srgbClr val="F3EDE3"/>
                </a:solidFill>
                <a:latin typeface="Georgia" pitchFamily="34" charset="0"/>
                <a:ea typeface="Georgia" pitchFamily="34" charset="-122"/>
                <a:cs typeface="Georgia" pitchFamily="34" charset="-120"/>
              </a:rPr>
              <a:t>Two Practice Sessions, Feet and Hooves on the Ground</a:t>
            </a:r>
            <a:endParaRPr lang="en-US" sz="3200" dirty="0"/>
          </a:p>
        </p:txBody>
      </p:sp>
      <p:sp>
        <p:nvSpPr>
          <p:cNvPr id="9" name="Text 6"/>
          <p:cNvSpPr/>
          <p:nvPr/>
        </p:nvSpPr>
        <p:spPr>
          <a:xfrm>
            <a:off x="914400" y="3200400"/>
            <a:ext cx="7315200" cy="365760"/>
          </a:xfrm>
          <a:prstGeom prst="rect">
            <a:avLst/>
          </a:prstGeom>
          <a:noFill/>
          <a:ln/>
        </p:spPr>
        <p:txBody>
          <a:bodyPr wrap="square" lIns="0" tIns="0" rIns="0" bIns="0" rtlCol="0" anchor="ctr"/>
          <a:lstStyle/>
          <a:p>
            <a:pPr algn="ctr" indent="0" marL="0">
              <a:buNone/>
            </a:pPr>
            <a:r>
              <a:rPr lang="en-US" sz="1500" i="1" dirty="0">
                <a:solidFill>
                  <a:srgbClr val="C8A96E"/>
                </a:solidFill>
                <a:latin typeface="Georgia" pitchFamily="34" charset="0"/>
                <a:ea typeface="Georgia" pitchFamily="34" charset="-122"/>
                <a:cs typeface="Georgia" pitchFamily="34" charset="-120"/>
              </a:rPr>
              <a:t>Stacie  ·  Tribal Cowboy LLC  ·  Athol, Idaho</a:t>
            </a:r>
            <a:endParaRPr lang="en-US" sz="1500" dirty="0"/>
          </a:p>
        </p:txBody>
      </p:sp>
      <p:sp>
        <p:nvSpPr>
          <p:cNvPr id="10" name="Shape 7"/>
          <p:cNvSpPr/>
          <p:nvPr/>
        </p:nvSpPr>
        <p:spPr>
          <a:xfrm>
            <a:off x="4023360" y="3730752"/>
            <a:ext cx="1097280" cy="0"/>
          </a:xfrm>
          <a:prstGeom prst="line">
            <a:avLst/>
          </a:prstGeom>
          <a:noFill/>
          <a:ln w="19050">
            <a:solidFill>
              <a:srgbClr val="D4A843"/>
            </a:solidFill>
            <a:prstDash val="solid"/>
          </a:ln>
        </p:spPr>
      </p:sp>
      <p:sp>
        <p:nvSpPr>
          <p:cNvPr id="11" name="Text 8"/>
          <p:cNvSpPr/>
          <p:nvPr/>
        </p:nvSpPr>
        <p:spPr>
          <a:xfrm>
            <a:off x="914400" y="3886200"/>
            <a:ext cx="7315200" cy="274320"/>
          </a:xfrm>
          <a:prstGeom prst="rect">
            <a:avLst/>
          </a:prstGeom>
          <a:noFill/>
          <a:ln/>
        </p:spPr>
        <p:txBody>
          <a:bodyPr wrap="square" lIns="0" tIns="0" rIns="0" bIns="0" rtlCol="0" anchor="ctr"/>
          <a:lstStyle/>
          <a:p>
            <a:pPr algn="ctr" indent="0" marL="0">
              <a:buNone/>
            </a:pPr>
            <a:r>
              <a:rPr lang="en-US" sz="1000" dirty="0">
                <a:solidFill>
                  <a:srgbClr val="8A7560"/>
                </a:solidFill>
                <a:latin typeface="Trebuchet MS" pitchFamily="34" charset="0"/>
                <a:ea typeface="Trebuchet MS" pitchFamily="34" charset="-122"/>
                <a:cs typeface="Trebuchet MS" pitchFamily="34" charset="-120"/>
              </a:rPr>
              <a:t>HPR Facilitator Course  ·  August 2026</a:t>
            </a:r>
            <a:endParaRPr lang="en-US" sz="1000" dirty="0"/>
          </a:p>
        </p:txBody>
      </p:sp>
      <p:sp>
        <p:nvSpPr>
          <p:cNvPr id="12" name="Text 9"/>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3" name="Text 10"/>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SESSIONS AT A GLANCE</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Two Sessions, Two Lessons</a:t>
            </a:r>
            <a:endParaRPr lang="en-US" sz="2400" dirty="0"/>
          </a:p>
        </p:txBody>
      </p:sp>
      <p:sp>
        <p:nvSpPr>
          <p:cNvPr id="6" name="Shape 3"/>
          <p:cNvSpPr/>
          <p:nvPr/>
        </p:nvSpPr>
        <p:spPr>
          <a:xfrm>
            <a:off x="548640" y="1417320"/>
            <a:ext cx="3886200" cy="3154680"/>
          </a:xfrm>
          <a:prstGeom prst="rect">
            <a:avLst/>
          </a:prstGeom>
          <a:solidFill>
            <a:srgbClr val="FFFCF7"/>
          </a:solidFill>
          <a:ln w="6350">
            <a:solidFill>
              <a:srgbClr val="E8DFD0"/>
            </a:solidFill>
            <a:prstDash val="solid"/>
          </a:ln>
        </p:spPr>
      </p:sp>
      <p:sp>
        <p:nvSpPr>
          <p:cNvPr id="7" name="Shape 4"/>
          <p:cNvSpPr/>
          <p:nvPr/>
        </p:nvSpPr>
        <p:spPr>
          <a:xfrm>
            <a:off x="548640" y="1417320"/>
            <a:ext cx="3886200" cy="274320"/>
          </a:xfrm>
          <a:prstGeom prst="rect">
            <a:avLst/>
          </a:prstGeom>
          <a:solidFill>
            <a:srgbClr val="D4A843"/>
          </a:solidFill>
          <a:ln w="12700">
            <a:solidFill>
              <a:srgbClr val="D4A843"/>
            </a:solidFill>
            <a:prstDash val="solid"/>
          </a:ln>
        </p:spPr>
      </p:sp>
      <p:sp>
        <p:nvSpPr>
          <p:cNvPr id="8" name="Text 5"/>
          <p:cNvSpPr/>
          <p:nvPr/>
        </p:nvSpPr>
        <p:spPr>
          <a:xfrm>
            <a:off x="548640" y="1417320"/>
            <a:ext cx="3886200" cy="274320"/>
          </a:xfrm>
          <a:prstGeom prst="rect">
            <a:avLst/>
          </a:prstGeom>
          <a:noFill/>
          <a:ln/>
        </p:spPr>
        <p:txBody>
          <a:bodyPr wrap="square" lIns="0" tIns="0" rIns="0" bIns="0" rtlCol="0" anchor="ctr"/>
          <a:lstStyle/>
          <a:p>
            <a:pPr algn="ctr" indent="0" marL="0">
              <a:buNone/>
            </a:pPr>
            <a:r>
              <a:rPr lang="en-US" sz="900" b="1" spc="200" kern="0" dirty="0">
                <a:solidFill>
                  <a:srgbClr val="1E1208"/>
                </a:solidFill>
                <a:latin typeface="Trebuchet MS" pitchFamily="34" charset="0"/>
                <a:ea typeface="Trebuchet MS" pitchFamily="34" charset="-122"/>
                <a:cs typeface="Trebuchet MS" pitchFamily="34" charset="-120"/>
              </a:rPr>
              <a:t>SESSION 1</a:t>
            </a:r>
            <a:endParaRPr lang="en-US" sz="900" dirty="0"/>
          </a:p>
        </p:txBody>
      </p:sp>
      <p:sp>
        <p:nvSpPr>
          <p:cNvPr id="9" name="Text 6"/>
          <p:cNvSpPr/>
          <p:nvPr/>
        </p:nvSpPr>
        <p:spPr>
          <a:xfrm>
            <a:off x="777240" y="1810512"/>
            <a:ext cx="3429000" cy="2651760"/>
          </a:xfrm>
          <a:prstGeom prst="rect">
            <a:avLst/>
          </a:prstGeom>
          <a:noFill/>
          <a:ln/>
        </p:spPr>
        <p:txBody>
          <a:bodyPr wrap="square" lIns="0" tIns="0" rIns="0" bIns="0" rtlCol="0" anchor="t"/>
          <a:lstStyle/>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Lesson</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Word Racer: CVC words &amp; Magic E</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Reader(s)</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age 6</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Horse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the Fjord</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When &amp; where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Thursday, August 27 · the ranch</a:t>
            </a:r>
            <a:endParaRPr lang="en-US" sz="900" dirty="0"/>
          </a:p>
        </p:txBody>
      </p:sp>
      <p:sp>
        <p:nvSpPr>
          <p:cNvPr id="10" name="Shape 7"/>
          <p:cNvSpPr/>
          <p:nvPr/>
        </p:nvSpPr>
        <p:spPr>
          <a:xfrm>
            <a:off x="4709160" y="1417320"/>
            <a:ext cx="3886200" cy="3154680"/>
          </a:xfrm>
          <a:prstGeom prst="rect">
            <a:avLst/>
          </a:prstGeom>
          <a:solidFill>
            <a:srgbClr val="FFFCF7"/>
          </a:solidFill>
          <a:ln w="6350">
            <a:solidFill>
              <a:srgbClr val="E8DFD0"/>
            </a:solidFill>
            <a:prstDash val="solid"/>
          </a:ln>
        </p:spPr>
      </p:sp>
      <p:sp>
        <p:nvSpPr>
          <p:cNvPr id="11" name="Shape 8"/>
          <p:cNvSpPr/>
          <p:nvPr/>
        </p:nvSpPr>
        <p:spPr>
          <a:xfrm>
            <a:off x="4709160" y="1417320"/>
            <a:ext cx="3886200" cy="274320"/>
          </a:xfrm>
          <a:prstGeom prst="rect">
            <a:avLst/>
          </a:prstGeom>
          <a:solidFill>
            <a:srgbClr val="1A7A6B"/>
          </a:solidFill>
          <a:ln w="12700">
            <a:solidFill>
              <a:srgbClr val="1A7A6B"/>
            </a:solidFill>
            <a:prstDash val="solid"/>
          </a:ln>
        </p:spPr>
      </p:sp>
      <p:sp>
        <p:nvSpPr>
          <p:cNvPr id="12" name="Text 9"/>
          <p:cNvSpPr/>
          <p:nvPr/>
        </p:nvSpPr>
        <p:spPr>
          <a:xfrm>
            <a:off x="4709160" y="1417320"/>
            <a:ext cx="3886200" cy="274320"/>
          </a:xfrm>
          <a:prstGeom prst="rect">
            <a:avLst/>
          </a:prstGeom>
          <a:noFill/>
          <a:ln/>
        </p:spPr>
        <p:txBody>
          <a:bodyPr wrap="square" lIns="0" tIns="0" rIns="0" bIns="0" rtlCol="0" anchor="ctr"/>
          <a:lstStyle/>
          <a:p>
            <a:pPr algn="ctr" indent="0" marL="0">
              <a:buNone/>
            </a:pPr>
            <a:r>
              <a:rPr lang="en-US" sz="900" b="1" spc="200" kern="0" dirty="0">
                <a:solidFill>
                  <a:srgbClr val="D0F0EA"/>
                </a:solidFill>
                <a:latin typeface="Trebuchet MS" pitchFamily="34" charset="0"/>
                <a:ea typeface="Trebuchet MS" pitchFamily="34" charset="-122"/>
                <a:cs typeface="Trebuchet MS" pitchFamily="34" charset="-120"/>
              </a:rPr>
              <a:t>SESSION 2</a:t>
            </a:r>
            <a:endParaRPr lang="en-US" sz="900" dirty="0"/>
          </a:p>
        </p:txBody>
      </p:sp>
      <p:sp>
        <p:nvSpPr>
          <p:cNvPr id="13" name="Text 10"/>
          <p:cNvSpPr/>
          <p:nvPr/>
        </p:nvSpPr>
        <p:spPr>
          <a:xfrm>
            <a:off x="4937760" y="1810512"/>
            <a:ext cx="3429000" cy="2651760"/>
          </a:xfrm>
          <a:prstGeom prst="rect">
            <a:avLst/>
          </a:prstGeom>
          <a:noFill/>
          <a:ln/>
        </p:spPr>
        <p:txBody>
          <a:bodyPr wrap="square" lIns="0" tIns="0" rIns="0" bIns="0" rtlCol="0" anchor="t"/>
          <a:lstStyle/>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Lesson</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Special Delivery: word family mailbox</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Reader(s)</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age 6</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Horse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the Fjord</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When &amp; where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Thursday, August 27 · the trailer</a:t>
            </a:r>
            <a:endParaRPr lang="en-US" sz="900" dirty="0"/>
          </a:p>
        </p:txBody>
      </p:sp>
      <p:sp>
        <p:nvSpPr>
          <p:cNvPr id="14" name="Shape 11"/>
          <p:cNvSpPr/>
          <p:nvPr/>
        </p:nvSpPr>
        <p:spPr>
          <a:xfrm>
            <a:off x="548640" y="4828032"/>
            <a:ext cx="8046720" cy="0"/>
          </a:xfrm>
          <a:prstGeom prst="line">
            <a:avLst/>
          </a:prstGeom>
          <a:noFill/>
          <a:ln w="9525">
            <a:solidFill>
              <a:srgbClr val="E0D6C8"/>
            </a:solidFill>
            <a:prstDash val="solid"/>
          </a:ln>
        </p:spPr>
      </p:sp>
      <p:sp>
        <p:nvSpPr>
          <p:cNvPr id="15" name="Text 12"/>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6" name="Text 13"/>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1  ·  WHAT WE DID</a:t>
            </a:r>
            <a:endParaRPr lang="en-US" sz="1000" dirty="0"/>
          </a:p>
        </p:txBody>
      </p:sp>
      <p:sp>
        <p:nvSpPr>
          <p:cNvPr id="5" name="Text 2"/>
          <p:cNvSpPr/>
          <p:nvPr/>
        </p:nvSpPr>
        <p:spPr>
          <a:xfrm>
            <a:off x="548640" y="841248"/>
            <a:ext cx="4846320" cy="50292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1: Word Racer</a:t>
            </a:r>
            <a:endParaRPr lang="en-US" sz="2400" dirty="0"/>
          </a:p>
        </p:txBody>
      </p:sp>
      <p:sp>
        <p:nvSpPr>
          <p:cNvPr id="6" name="Text 3"/>
          <p:cNvSpPr/>
          <p:nvPr/>
        </p:nvSpPr>
        <p:spPr>
          <a:xfrm>
            <a:off x="548640" y="1508760"/>
            <a:ext cx="466344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A word card taped to every cone. Charlie the Fjord walked the line and stopped where he chose. Whatever cone he picked, that was her word.</a:t>
            </a:r>
            <a:endParaRPr lang="en-US" sz="1200" dirty="0"/>
          </a:p>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Charlie read the short word out loud, then tapped the card with her Magic E wand. Pew. Tap turned into tape, kit turned into kite.</a:t>
            </a:r>
            <a:endParaRPr lang="en-US" sz="1200" dirty="0"/>
          </a:p>
          <a:p>
            <a:pPr marL="177800" indent="-177800">
              <a:buSzPct val="100000"/>
              <a:buChar char="•"/>
            </a:pPr>
            <a:r>
              <a:rPr lang="en-US" sz="1200" dirty="0">
                <a:solidFill>
                  <a:srgbClr val="574838"/>
                </a:solidFill>
                <a:latin typeface="Trebuchet MS" pitchFamily="34" charset="0"/>
                <a:ea typeface="Trebuchet MS" pitchFamily="34" charset="-122"/>
                <a:cs typeface="Trebuchet MS" pitchFamily="34" charset="-120"/>
              </a:rPr>
              <a:t>She started the session not knowing what the silent E does. Two cards later she was telling me: it goes quiet and the vowel says its name.</a:t>
            </a:r>
            <a:endParaRPr lang="en-US" sz="1200" dirty="0"/>
          </a:p>
        </p:txBody>
      </p:sp>
      <p:sp>
        <p:nvSpPr>
          <p:cNvPr id="7" name="Shape 4"/>
          <p:cNvSpPr/>
          <p:nvPr/>
        </p:nvSpPr>
        <p:spPr>
          <a:xfrm>
            <a:off x="548640" y="3749040"/>
            <a:ext cx="4663440" cy="777240"/>
          </a:xfrm>
          <a:prstGeom prst="rect">
            <a:avLst/>
          </a:prstGeom>
          <a:solidFill>
            <a:srgbClr val="FAF4EA"/>
          </a:solidFill>
          <a:ln/>
        </p:spPr>
      </p:sp>
      <p:sp>
        <p:nvSpPr>
          <p:cNvPr id="8" name="Shape 5"/>
          <p:cNvSpPr/>
          <p:nvPr/>
        </p:nvSpPr>
        <p:spPr>
          <a:xfrm>
            <a:off x="548640" y="3749040"/>
            <a:ext cx="50292" cy="777240"/>
          </a:xfrm>
          <a:prstGeom prst="rect">
            <a:avLst/>
          </a:prstGeom>
          <a:solidFill>
            <a:srgbClr val="D4A843"/>
          </a:solidFill>
          <a:ln/>
        </p:spPr>
      </p:sp>
      <p:sp>
        <p:nvSpPr>
          <p:cNvPr id="9" name="Text 6"/>
          <p:cNvSpPr/>
          <p:nvPr/>
        </p:nvSpPr>
        <p:spPr>
          <a:xfrm>
            <a:off x="749808" y="3803904"/>
            <a:ext cx="4343400" cy="685800"/>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CONCEPT</a:t>
            </a:r>
            <a:endParaRPr lang="en-US" sz="850" dirty="0"/>
          </a:p>
          <a:p>
            <a:pPr indent="0" marL="0">
              <a:buNone/>
            </a:pPr>
            <a:r>
              <a:rPr lang="en-US" sz="1150" b="1" dirty="0">
                <a:solidFill>
                  <a:srgbClr val="2C2520"/>
                </a:solidFill>
                <a:latin typeface="Trebuchet MS" pitchFamily="34" charset="0"/>
                <a:ea typeface="Trebuchet MS" pitchFamily="34" charset="-122"/>
                <a:cs typeface="Trebuchet MS" pitchFamily="34" charset="-120"/>
              </a:rPr>
              <a:t>Magic E is silent, but it makes the vowel say its name: tap becomes tape.</a:t>
            </a:r>
            <a:endParaRPr lang="en-US" sz="850" dirty="0"/>
          </a:p>
        </p:txBody>
      </p:sp>
      <p:pic>
        <p:nvPicPr>
          <p:cNvPr id="10" name="Image 1" descr="/tmp/claude-0/-home-user-tribal-cowboy-webhook/9ba9e801-9603-5165-907c-67d024c96ac6/scratchpad/session1-photo-small.jpg">    </p:cNvPr>
          <p:cNvPicPr>
            <a:picLocks noChangeAspect="1"/>
          </p:cNvPicPr>
          <p:nvPr/>
        </p:nvPicPr>
        <p:blipFill>
          <a:blip r:embed="rId2"/>
          <a:srcRect l="0" r="0" t="0" b="0"/>
          <a:stretch/>
        </p:blipFill>
        <p:spPr>
          <a:xfrm>
            <a:off x="5486400" y="960120"/>
            <a:ext cx="3108960" cy="3566160"/>
          </a:xfrm>
          <a:prstGeom prst="rect">
            <a:avLst/>
          </a:prstGeom>
        </p:spPr>
      </p:pic>
      <p:sp>
        <p:nvSpPr>
          <p:cNvPr id="11" name="Shape 7"/>
          <p:cNvSpPr/>
          <p:nvPr/>
        </p:nvSpPr>
        <p:spPr>
          <a:xfrm>
            <a:off x="5486400" y="960120"/>
            <a:ext cx="3108960" cy="3566160"/>
          </a:xfrm>
          <a:prstGeom prst="rect">
            <a:avLst/>
          </a:prstGeom>
          <a:solidFill>
            <a:srgbClr val="D4A843">
              <a:alpha val="0"/>
            </a:srgbClr>
          </a:solidFill>
          <a:ln w="19050">
            <a:solidFill>
              <a:srgbClr val="D4A843"/>
            </a:solidFill>
            <a:prstDash val="solid"/>
          </a:ln>
        </p:spPr>
      </p:sp>
      <p:sp>
        <p:nvSpPr>
          <p:cNvPr id="12" name="Shape 8"/>
          <p:cNvSpPr/>
          <p:nvPr/>
        </p:nvSpPr>
        <p:spPr>
          <a:xfrm>
            <a:off x="548640" y="4828032"/>
            <a:ext cx="8046720" cy="0"/>
          </a:xfrm>
          <a:prstGeom prst="line">
            <a:avLst/>
          </a:prstGeom>
          <a:noFill/>
          <a:ln w="9525">
            <a:solidFill>
              <a:srgbClr val="E0D6C8"/>
            </a:solidFill>
            <a:prstDash val="solid"/>
          </a:ln>
        </p:spPr>
      </p:sp>
      <p:sp>
        <p:nvSpPr>
          <p:cNvPr id="13" name="Text 9"/>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4" name="Text 10"/>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1  ·  REFLECTIONS</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1: What Stood Out</a:t>
            </a:r>
            <a:endParaRPr lang="en-US" sz="2400" dirty="0"/>
          </a:p>
        </p:txBody>
      </p:sp>
      <p:sp>
        <p:nvSpPr>
          <p:cNvPr id="6" name="Shape 3"/>
          <p:cNvSpPr/>
          <p:nvPr/>
        </p:nvSpPr>
        <p:spPr>
          <a:xfrm>
            <a:off x="548640" y="1463040"/>
            <a:ext cx="8046720" cy="914400"/>
          </a:xfrm>
          <a:prstGeom prst="rect">
            <a:avLst/>
          </a:prstGeom>
          <a:solidFill>
            <a:srgbClr val="FAF4EA"/>
          </a:solidFill>
          <a:ln/>
        </p:spPr>
      </p:sp>
      <p:sp>
        <p:nvSpPr>
          <p:cNvPr id="7" name="Shape 4"/>
          <p:cNvSpPr/>
          <p:nvPr/>
        </p:nvSpPr>
        <p:spPr>
          <a:xfrm>
            <a:off x="548640" y="1463040"/>
            <a:ext cx="50292" cy="914400"/>
          </a:xfrm>
          <a:prstGeom prst="rect">
            <a:avLst/>
          </a:prstGeom>
          <a:solidFill>
            <a:srgbClr val="D4A843"/>
          </a:solidFill>
          <a:ln/>
        </p:spPr>
      </p:sp>
      <p:sp>
        <p:nvSpPr>
          <p:cNvPr id="8" name="Text 5"/>
          <p:cNvSpPr/>
          <p:nvPr/>
        </p:nvSpPr>
        <p:spPr>
          <a:xfrm>
            <a:off x="777240" y="153619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AH-HA MOMENT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I asked what the Magic E does. She said no. Two cards later she was telling me: the E goes silent and the vowel says its name. Kit became kite, and she read it like she owned it.</a:t>
            </a:r>
            <a:endParaRPr lang="en-US" sz="850" dirty="0"/>
          </a:p>
        </p:txBody>
      </p:sp>
      <p:sp>
        <p:nvSpPr>
          <p:cNvPr id="9" name="Shape 6"/>
          <p:cNvSpPr/>
          <p:nvPr/>
        </p:nvSpPr>
        <p:spPr>
          <a:xfrm>
            <a:off x="548640" y="2514600"/>
            <a:ext cx="8046720" cy="914400"/>
          </a:xfrm>
          <a:prstGeom prst="rect">
            <a:avLst/>
          </a:prstGeom>
          <a:solidFill>
            <a:srgbClr val="EEF7F5"/>
          </a:solidFill>
          <a:ln/>
        </p:spPr>
      </p:sp>
      <p:sp>
        <p:nvSpPr>
          <p:cNvPr id="10" name="Shape 7"/>
          <p:cNvSpPr/>
          <p:nvPr/>
        </p:nvSpPr>
        <p:spPr>
          <a:xfrm>
            <a:off x="548640" y="2514600"/>
            <a:ext cx="50292" cy="914400"/>
          </a:xfrm>
          <a:prstGeom prst="rect">
            <a:avLst/>
          </a:prstGeom>
          <a:solidFill>
            <a:srgbClr val="1A7A6B"/>
          </a:solidFill>
          <a:ln/>
        </p:spPr>
      </p:sp>
      <p:sp>
        <p:nvSpPr>
          <p:cNvPr id="11" name="Text 8"/>
          <p:cNvSpPr/>
          <p:nvPr/>
        </p:nvSpPr>
        <p:spPr>
          <a:xfrm>
            <a:off x="777240" y="2587752"/>
            <a:ext cx="7635240" cy="786384"/>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WHAT I LEARNED</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Let the pony deal the cards. When Charlie the Fjord stopped and chose the next word, the drill became his game and she wanted a turn in it. My job was one question at a time, then wait.</a:t>
            </a:r>
            <a:endParaRPr lang="en-US" sz="850" dirty="0"/>
          </a:p>
        </p:txBody>
      </p:sp>
      <p:sp>
        <p:nvSpPr>
          <p:cNvPr id="12" name="Shape 9"/>
          <p:cNvSpPr/>
          <p:nvPr/>
        </p:nvSpPr>
        <p:spPr>
          <a:xfrm>
            <a:off x="548640" y="3566160"/>
            <a:ext cx="8046720" cy="914400"/>
          </a:xfrm>
          <a:prstGeom prst="rect">
            <a:avLst/>
          </a:prstGeom>
          <a:solidFill>
            <a:srgbClr val="FAF4EA"/>
          </a:solidFill>
          <a:ln/>
        </p:spPr>
      </p:sp>
      <p:sp>
        <p:nvSpPr>
          <p:cNvPr id="13" name="Shape 10"/>
          <p:cNvSpPr/>
          <p:nvPr/>
        </p:nvSpPr>
        <p:spPr>
          <a:xfrm>
            <a:off x="548640" y="3566160"/>
            <a:ext cx="50292" cy="914400"/>
          </a:xfrm>
          <a:prstGeom prst="rect">
            <a:avLst/>
          </a:prstGeom>
          <a:solidFill>
            <a:srgbClr val="D4A843"/>
          </a:solidFill>
          <a:ln/>
        </p:spPr>
      </p:sp>
      <p:sp>
        <p:nvSpPr>
          <p:cNvPr id="14" name="Text 11"/>
          <p:cNvSpPr/>
          <p:nvPr/>
        </p:nvSpPr>
        <p:spPr>
          <a:xfrm>
            <a:off x="777240" y="363931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HORSE'S PART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He stood stone quiet while she worked out K, I, T with his lead in one hand and the wand in the other. I told her you can hold it, he will stay. He stayed. His stillness bought her the time to finish the word.</a:t>
            </a:r>
            <a:endParaRPr lang="en-US" sz="850" dirty="0"/>
          </a:p>
        </p:txBody>
      </p:sp>
      <p:sp>
        <p:nvSpPr>
          <p:cNvPr id="15" name="Shape 12"/>
          <p:cNvSpPr/>
          <p:nvPr/>
        </p:nvSpPr>
        <p:spPr>
          <a:xfrm>
            <a:off x="548640" y="4828032"/>
            <a:ext cx="8046720" cy="0"/>
          </a:xfrm>
          <a:prstGeom prst="line">
            <a:avLst/>
          </a:prstGeom>
          <a:noFill/>
          <a:ln w="9525">
            <a:solidFill>
              <a:srgbClr val="E0D6C8"/>
            </a:solidFill>
            <a:prstDash val="solid"/>
          </a:ln>
        </p:spPr>
      </p:sp>
      <p:sp>
        <p:nvSpPr>
          <p:cNvPr id="16" name="Text 13"/>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7" name="Text 14"/>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2  ·  WHAT WE DID</a:t>
            </a:r>
            <a:endParaRPr lang="en-US" sz="1000" dirty="0"/>
          </a:p>
        </p:txBody>
      </p:sp>
      <p:sp>
        <p:nvSpPr>
          <p:cNvPr id="5" name="Text 2"/>
          <p:cNvSpPr/>
          <p:nvPr/>
        </p:nvSpPr>
        <p:spPr>
          <a:xfrm>
            <a:off x="548640" y="841248"/>
            <a:ext cx="4846320" cy="502920"/>
          </a:xfrm>
          <a:prstGeom prst="rect">
            <a:avLst/>
          </a:prstGeom>
          <a:noFill/>
          <a:ln/>
        </p:spPr>
        <p:txBody>
          <a:bodyPr wrap="square" lIns="0" tIns="0" rIns="0" bIns="0" rtlCol="0" anchor="ctr"/>
          <a:lstStyle/>
          <a:p>
            <a:pPr indent="0" marL="0">
              <a:buNone/>
            </a:pPr>
            <a:r>
              <a:rPr lang="en-US" sz="1900" dirty="0">
                <a:solidFill>
                  <a:srgbClr val="2C2520"/>
                </a:solidFill>
                <a:latin typeface="Georgia" pitchFamily="34" charset="0"/>
                <a:ea typeface="Georgia" pitchFamily="34" charset="-122"/>
                <a:cs typeface="Georgia" pitchFamily="34" charset="-120"/>
              </a:rPr>
              <a:t>Session 2: Special Delivery</a:t>
            </a:r>
            <a:endParaRPr lang="en-US" sz="1900" dirty="0"/>
          </a:p>
        </p:txBody>
      </p:sp>
      <p:sp>
        <p:nvSpPr>
          <p:cNvPr id="6" name="Text 3"/>
          <p:cNvSpPr/>
          <p:nvPr/>
        </p:nvSpPr>
        <p:spPr>
          <a:xfrm>
            <a:off x="548640" y="1508760"/>
            <a:ext cx="466344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A toy mailbox with a big W on the front, set on the trailer fender, with a stack of phonogram discs beside it: ash, ay, ame, oke, ow.</a:t>
            </a:r>
            <a:endParaRPr lang="en-US" sz="1200" dirty="0"/>
          </a:p>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Charlie held each disc up to the W and sounded out the pair. Real words like wash and way got mailed. Sillies like wame got tossed, with giggles.</a:t>
            </a:r>
            <a:endParaRPr lang="en-US" sz="1200" dirty="0"/>
          </a:p>
          <a:p>
            <a:pPr marL="177800" indent="-177800">
              <a:buSzPct val="100000"/>
              <a:buChar char="•"/>
            </a:pPr>
            <a:r>
              <a:rPr lang="en-US" sz="1200" dirty="0">
                <a:solidFill>
                  <a:srgbClr val="574838"/>
                </a:solidFill>
                <a:latin typeface="Trebuchet MS" pitchFamily="34" charset="0"/>
                <a:ea typeface="Trebuchet MS" pitchFamily="34" charset="-122"/>
                <a:cs typeface="Trebuchet MS" pitchFamily="34" charset="-120"/>
              </a:rPr>
              <a:t>One disc read as nonsense until she flipped it right side up and found wow. She kept count of every real word she dropped in the box.</a:t>
            </a:r>
            <a:endParaRPr lang="en-US" sz="1200" dirty="0"/>
          </a:p>
        </p:txBody>
      </p:sp>
      <p:sp>
        <p:nvSpPr>
          <p:cNvPr id="7" name="Shape 4"/>
          <p:cNvSpPr/>
          <p:nvPr/>
        </p:nvSpPr>
        <p:spPr>
          <a:xfrm>
            <a:off x="548640" y="3749040"/>
            <a:ext cx="4663440" cy="777240"/>
          </a:xfrm>
          <a:prstGeom prst="rect">
            <a:avLst/>
          </a:prstGeom>
          <a:solidFill>
            <a:srgbClr val="EEF7F5"/>
          </a:solidFill>
          <a:ln/>
        </p:spPr>
      </p:sp>
      <p:sp>
        <p:nvSpPr>
          <p:cNvPr id="8" name="Shape 5"/>
          <p:cNvSpPr/>
          <p:nvPr/>
        </p:nvSpPr>
        <p:spPr>
          <a:xfrm>
            <a:off x="548640" y="3749040"/>
            <a:ext cx="50292" cy="777240"/>
          </a:xfrm>
          <a:prstGeom prst="rect">
            <a:avLst/>
          </a:prstGeom>
          <a:solidFill>
            <a:srgbClr val="1A7A6B"/>
          </a:solidFill>
          <a:ln/>
        </p:spPr>
      </p:sp>
      <p:sp>
        <p:nvSpPr>
          <p:cNvPr id="9" name="Text 6"/>
          <p:cNvSpPr/>
          <p:nvPr/>
        </p:nvSpPr>
        <p:spPr>
          <a:xfrm>
            <a:off x="749808" y="3803904"/>
            <a:ext cx="4343400" cy="685800"/>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THE CONCEPT</a:t>
            </a:r>
            <a:endParaRPr lang="en-US" sz="850" dirty="0"/>
          </a:p>
          <a:p>
            <a:pPr indent="0" marL="0">
              <a:buNone/>
            </a:pPr>
            <a:r>
              <a:rPr lang="en-US" sz="1150" b="1" dirty="0">
                <a:solidFill>
                  <a:srgbClr val="2C2520"/>
                </a:solidFill>
                <a:latin typeface="Trebuchet MS" pitchFamily="34" charset="0"/>
                <a:ea typeface="Trebuchet MS" pitchFamily="34" charset="-122"/>
                <a:cs typeface="Trebuchet MS" pitchFamily="34" charset="-120"/>
              </a:rPr>
              <a:t>One beginning sound plus the right chunk builds a real word: W + ash = wash.</a:t>
            </a:r>
            <a:endParaRPr lang="en-US" sz="850" dirty="0"/>
          </a:p>
        </p:txBody>
      </p:sp>
      <p:pic>
        <p:nvPicPr>
          <p:cNvPr id="10" name="Image 1" descr="/tmp/claude-0/-home-user-tribal-cowboy-webhook/9ba9e801-9603-5165-907c-67d024c96ac6/scratchpad/session2-photo-small.jpg">    </p:cNvPr>
          <p:cNvPicPr>
            <a:picLocks noChangeAspect="1"/>
          </p:cNvPicPr>
          <p:nvPr/>
        </p:nvPicPr>
        <p:blipFill>
          <a:blip r:embed="rId2"/>
          <a:srcRect l="0" r="0" t="0" b="0"/>
          <a:stretch/>
        </p:blipFill>
        <p:spPr>
          <a:xfrm>
            <a:off x="5486400" y="960120"/>
            <a:ext cx="3108960" cy="3566160"/>
          </a:xfrm>
          <a:prstGeom prst="rect">
            <a:avLst/>
          </a:prstGeom>
        </p:spPr>
      </p:pic>
      <p:sp>
        <p:nvSpPr>
          <p:cNvPr id="11" name="Shape 7"/>
          <p:cNvSpPr/>
          <p:nvPr/>
        </p:nvSpPr>
        <p:spPr>
          <a:xfrm>
            <a:off x="5486400" y="960120"/>
            <a:ext cx="3108960" cy="3566160"/>
          </a:xfrm>
          <a:prstGeom prst="rect">
            <a:avLst/>
          </a:prstGeom>
          <a:solidFill>
            <a:srgbClr val="D4A843">
              <a:alpha val="0"/>
            </a:srgbClr>
          </a:solidFill>
          <a:ln w="19050">
            <a:solidFill>
              <a:srgbClr val="D4A843"/>
            </a:solidFill>
            <a:prstDash val="solid"/>
          </a:ln>
        </p:spPr>
      </p:sp>
      <p:sp>
        <p:nvSpPr>
          <p:cNvPr id="12" name="Shape 8"/>
          <p:cNvSpPr/>
          <p:nvPr/>
        </p:nvSpPr>
        <p:spPr>
          <a:xfrm>
            <a:off x="548640" y="4828032"/>
            <a:ext cx="8046720" cy="0"/>
          </a:xfrm>
          <a:prstGeom prst="line">
            <a:avLst/>
          </a:prstGeom>
          <a:noFill/>
          <a:ln w="9525">
            <a:solidFill>
              <a:srgbClr val="E0D6C8"/>
            </a:solidFill>
            <a:prstDash val="solid"/>
          </a:ln>
        </p:spPr>
      </p:sp>
      <p:sp>
        <p:nvSpPr>
          <p:cNvPr id="13" name="Text 9"/>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4" name="Text 10"/>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2  ·  REFLECTIONS</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2: What Stood Out</a:t>
            </a:r>
            <a:endParaRPr lang="en-US" sz="2400" dirty="0"/>
          </a:p>
        </p:txBody>
      </p:sp>
      <p:sp>
        <p:nvSpPr>
          <p:cNvPr id="6" name="Shape 3"/>
          <p:cNvSpPr/>
          <p:nvPr/>
        </p:nvSpPr>
        <p:spPr>
          <a:xfrm>
            <a:off x="548640" y="1463040"/>
            <a:ext cx="8046720" cy="914400"/>
          </a:xfrm>
          <a:prstGeom prst="rect">
            <a:avLst/>
          </a:prstGeom>
          <a:solidFill>
            <a:srgbClr val="FAF4EA"/>
          </a:solidFill>
          <a:ln/>
        </p:spPr>
      </p:sp>
      <p:sp>
        <p:nvSpPr>
          <p:cNvPr id="7" name="Shape 4"/>
          <p:cNvSpPr/>
          <p:nvPr/>
        </p:nvSpPr>
        <p:spPr>
          <a:xfrm>
            <a:off x="548640" y="1463040"/>
            <a:ext cx="50292" cy="914400"/>
          </a:xfrm>
          <a:prstGeom prst="rect">
            <a:avLst/>
          </a:prstGeom>
          <a:solidFill>
            <a:srgbClr val="D4A843"/>
          </a:solidFill>
          <a:ln/>
        </p:spPr>
      </p:sp>
      <p:sp>
        <p:nvSpPr>
          <p:cNvPr id="8" name="Text 5"/>
          <p:cNvSpPr/>
          <p:nvPr/>
        </p:nvSpPr>
        <p:spPr>
          <a:xfrm>
            <a:off x="777240" y="153619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AH-HA MOMENT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The upside down disc. She read woo, frowned, got one hint, flipped it, and pulled out wow. Then she said it four more times, because winning a word feels that good.</a:t>
            </a:r>
            <a:endParaRPr lang="en-US" sz="850" dirty="0"/>
          </a:p>
        </p:txBody>
      </p:sp>
      <p:sp>
        <p:nvSpPr>
          <p:cNvPr id="9" name="Shape 6"/>
          <p:cNvSpPr/>
          <p:nvPr/>
        </p:nvSpPr>
        <p:spPr>
          <a:xfrm>
            <a:off x="548640" y="2514600"/>
            <a:ext cx="8046720" cy="914400"/>
          </a:xfrm>
          <a:prstGeom prst="rect">
            <a:avLst/>
          </a:prstGeom>
          <a:solidFill>
            <a:srgbClr val="EEF7F5"/>
          </a:solidFill>
          <a:ln/>
        </p:spPr>
      </p:sp>
      <p:sp>
        <p:nvSpPr>
          <p:cNvPr id="10" name="Shape 7"/>
          <p:cNvSpPr/>
          <p:nvPr/>
        </p:nvSpPr>
        <p:spPr>
          <a:xfrm>
            <a:off x="548640" y="2514600"/>
            <a:ext cx="50292" cy="914400"/>
          </a:xfrm>
          <a:prstGeom prst="rect">
            <a:avLst/>
          </a:prstGeom>
          <a:solidFill>
            <a:srgbClr val="1A7A6B"/>
          </a:solidFill>
          <a:ln/>
        </p:spPr>
      </p:sp>
      <p:sp>
        <p:nvSpPr>
          <p:cNvPr id="11" name="Text 8"/>
          <p:cNvSpPr/>
          <p:nvPr/>
        </p:nvSpPr>
        <p:spPr>
          <a:xfrm>
            <a:off x="777240" y="2587752"/>
            <a:ext cx="7635240" cy="786384"/>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WHAT I LEARNED</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The no answers teach as much as the yes answers. Sounding out wame and ruling it not a word works the same muscle as reading wash. Keeping count turned judging into a game instead of a test.</a:t>
            </a:r>
            <a:endParaRPr lang="en-US" sz="850" dirty="0"/>
          </a:p>
        </p:txBody>
      </p:sp>
      <p:sp>
        <p:nvSpPr>
          <p:cNvPr id="12" name="Shape 9"/>
          <p:cNvSpPr/>
          <p:nvPr/>
        </p:nvSpPr>
        <p:spPr>
          <a:xfrm>
            <a:off x="548640" y="3566160"/>
            <a:ext cx="8046720" cy="914400"/>
          </a:xfrm>
          <a:prstGeom prst="rect">
            <a:avLst/>
          </a:prstGeom>
          <a:solidFill>
            <a:srgbClr val="FAF4EA"/>
          </a:solidFill>
          <a:ln/>
        </p:spPr>
      </p:sp>
      <p:sp>
        <p:nvSpPr>
          <p:cNvPr id="13" name="Shape 10"/>
          <p:cNvSpPr/>
          <p:nvPr/>
        </p:nvSpPr>
        <p:spPr>
          <a:xfrm>
            <a:off x="548640" y="3566160"/>
            <a:ext cx="50292" cy="914400"/>
          </a:xfrm>
          <a:prstGeom prst="rect">
            <a:avLst/>
          </a:prstGeom>
          <a:solidFill>
            <a:srgbClr val="D4A843"/>
          </a:solidFill>
          <a:ln/>
        </p:spPr>
      </p:sp>
      <p:sp>
        <p:nvSpPr>
          <p:cNvPr id="14" name="Text 11"/>
          <p:cNvSpPr/>
          <p:nvPr/>
        </p:nvSpPr>
        <p:spPr>
          <a:xfrm>
            <a:off x="777240" y="363931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HORSE'S PART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His work came first. The session with Charlie the Fjord built the calm she carried straight to the mailbox, halters at her feet and the trailer fender for a desk.</a:t>
            </a:r>
            <a:endParaRPr lang="en-US" sz="850" dirty="0"/>
          </a:p>
        </p:txBody>
      </p:sp>
      <p:sp>
        <p:nvSpPr>
          <p:cNvPr id="15" name="Shape 12"/>
          <p:cNvSpPr/>
          <p:nvPr/>
        </p:nvSpPr>
        <p:spPr>
          <a:xfrm>
            <a:off x="548640" y="4828032"/>
            <a:ext cx="8046720" cy="0"/>
          </a:xfrm>
          <a:prstGeom prst="line">
            <a:avLst/>
          </a:prstGeom>
          <a:noFill/>
          <a:ln w="9525">
            <a:solidFill>
              <a:srgbClr val="E0D6C8"/>
            </a:solidFill>
            <a:prstDash val="solid"/>
          </a:ln>
        </p:spPr>
      </p:sp>
      <p:sp>
        <p:nvSpPr>
          <p:cNvPr id="16" name="Text 13"/>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7" name="Text 14"/>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sp>
        <p:nvSpPr>
          <p:cNvPr id="4" name="Text 2"/>
          <p:cNvSpPr/>
          <p:nvPr/>
        </p:nvSpPr>
        <p:spPr>
          <a:xfrm>
            <a:off x="914400" y="640080"/>
            <a:ext cx="7315200" cy="320040"/>
          </a:xfrm>
          <a:prstGeom prst="rect">
            <a:avLst/>
          </a:prstGeom>
          <a:noFill/>
          <a:ln/>
        </p:spPr>
        <p:txBody>
          <a:bodyPr wrap="square" lIns="0" tIns="0" rIns="0" bIns="0" rtlCol="0" anchor="ctr"/>
          <a:lstStyle/>
          <a:p>
            <a:pPr algn="ctr" indent="0" marL="0">
              <a:buNone/>
            </a:pPr>
            <a:r>
              <a:rPr lang="en-US" sz="1100" b="1" spc="400" kern="0" dirty="0">
                <a:solidFill>
                  <a:srgbClr val="D4A843"/>
                </a:solidFill>
                <a:latin typeface="Trebuchet MS" pitchFamily="34" charset="0"/>
                <a:ea typeface="Trebuchet MS" pitchFamily="34" charset="-122"/>
                <a:cs typeface="Trebuchet MS" pitchFamily="34" charset="-120"/>
              </a:rPr>
              <a:t>ONE METAPHOR FROM THE ARENA</a:t>
            </a:r>
            <a:endParaRPr lang="en-US" sz="1100" dirty="0"/>
          </a:p>
        </p:txBody>
      </p:sp>
      <p:sp>
        <p:nvSpPr>
          <p:cNvPr id="5" name="Text 3"/>
          <p:cNvSpPr/>
          <p:nvPr/>
        </p:nvSpPr>
        <p:spPr>
          <a:xfrm>
            <a:off x="822960" y="914400"/>
            <a:ext cx="1097280" cy="1097280"/>
          </a:xfrm>
          <a:prstGeom prst="rect">
            <a:avLst/>
          </a:prstGeom>
          <a:noFill/>
          <a:ln/>
        </p:spPr>
        <p:txBody>
          <a:bodyPr wrap="square" lIns="0" tIns="0" rIns="0" bIns="0" rtlCol="0" anchor="ctr"/>
          <a:lstStyle/>
          <a:p>
            <a:pPr indent="0" marL="0">
              <a:buNone/>
            </a:pPr>
            <a:r>
              <a:rPr lang="en-US" sz="7200" dirty="0">
                <a:solidFill>
                  <a:srgbClr val="D4A843"/>
                </a:solidFill>
                <a:latin typeface="Georgia" pitchFamily="34" charset="0"/>
                <a:ea typeface="Georgia" pitchFamily="34" charset="-122"/>
                <a:cs typeface="Georgia" pitchFamily="34" charset="-120"/>
              </a:rPr>
              <a:t>“</a:t>
            </a:r>
            <a:endParaRPr lang="en-US" sz="7200" dirty="0"/>
          </a:p>
        </p:txBody>
      </p:sp>
      <p:sp>
        <p:nvSpPr>
          <p:cNvPr id="6" name="Text 4"/>
          <p:cNvSpPr/>
          <p:nvPr/>
        </p:nvSpPr>
        <p:spPr>
          <a:xfrm>
            <a:off x="1280160" y="1554480"/>
            <a:ext cx="6583680" cy="1554480"/>
          </a:xfrm>
          <a:prstGeom prst="rect">
            <a:avLst/>
          </a:prstGeom>
          <a:noFill/>
          <a:ln/>
        </p:spPr>
        <p:txBody>
          <a:bodyPr wrap="square" lIns="0" tIns="0" rIns="0" bIns="0" rtlCol="0" anchor="ctr"/>
          <a:lstStyle/>
          <a:p>
            <a:pPr algn="ctr" indent="0" marL="0">
              <a:buNone/>
            </a:pPr>
            <a:r>
              <a:rPr lang="en-US" sz="2000" i="1" dirty="0">
                <a:solidFill>
                  <a:srgbClr val="F3EDE3"/>
                </a:solidFill>
                <a:latin typeface="Georgia" pitchFamily="34" charset="0"/>
                <a:ea typeface="Georgia" pitchFamily="34" charset="-122"/>
                <a:cs typeface="Georgia" pitchFamily="34" charset="-120"/>
              </a:rPr>
              <a:t>She read the disc upside down and got nonsense. She turned it, and it said wow.</a:t>
            </a:r>
            <a:endParaRPr lang="en-US" sz="2000" dirty="0"/>
          </a:p>
        </p:txBody>
      </p:sp>
      <p:sp>
        <p:nvSpPr>
          <p:cNvPr id="7" name="Shape 5"/>
          <p:cNvSpPr/>
          <p:nvPr/>
        </p:nvSpPr>
        <p:spPr>
          <a:xfrm>
            <a:off x="4023360" y="3383280"/>
            <a:ext cx="1097280" cy="0"/>
          </a:xfrm>
          <a:prstGeom prst="line">
            <a:avLst/>
          </a:prstGeom>
          <a:noFill/>
          <a:ln w="19050">
            <a:solidFill>
              <a:srgbClr val="D4A843"/>
            </a:solidFill>
            <a:prstDash val="solid"/>
          </a:ln>
        </p:spPr>
      </p:sp>
      <p:sp>
        <p:nvSpPr>
          <p:cNvPr id="8" name="Text 6"/>
          <p:cNvSpPr/>
          <p:nvPr/>
        </p:nvSpPr>
        <p:spPr>
          <a:xfrm>
            <a:off x="1463040" y="3566160"/>
            <a:ext cx="6217920" cy="822960"/>
          </a:xfrm>
          <a:prstGeom prst="rect">
            <a:avLst/>
          </a:prstGeom>
          <a:noFill/>
          <a:ln/>
        </p:spPr>
        <p:txBody>
          <a:bodyPr wrap="square" lIns="0" tIns="0" rIns="0" bIns="0" rtlCol="0" anchor="ctr"/>
          <a:lstStyle/>
          <a:p>
            <a:pPr algn="ctr" indent="0" marL="0">
              <a:buNone/>
            </a:pPr>
            <a:r>
              <a:rPr lang="en-US" sz="1200" dirty="0">
                <a:solidFill>
                  <a:srgbClr val="C8A96E"/>
                </a:solidFill>
                <a:latin typeface="Trebuchet MS" pitchFamily="34" charset="0"/>
                <a:ea typeface="Trebuchet MS" pitchFamily="34" charset="-122"/>
                <a:cs typeface="Trebuchet MS" pitchFamily="34" charset="-120"/>
              </a:rPr>
              <a:t>That is a struggling reader in one disc. The letters were never wrong. She held the word the wrong way up, and nobody grabbed it out of her hands. My job, and the pony's, is to stand quiet and give her room to turn it.</a:t>
            </a:r>
            <a:endParaRPr lang="en-US" sz="1200" dirty="0"/>
          </a:p>
        </p:txBody>
      </p:sp>
      <p:sp>
        <p:nvSpPr>
          <p:cNvPr id="9" name="Text 7"/>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0" name="Text 8"/>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GLOW &amp; GROW</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Glow &amp; Grow</a:t>
            </a:r>
            <a:endParaRPr lang="en-US" sz="2400" dirty="0"/>
          </a:p>
        </p:txBody>
      </p:sp>
      <p:sp>
        <p:nvSpPr>
          <p:cNvPr id="6" name="Text 3"/>
          <p:cNvSpPr/>
          <p:nvPr/>
        </p:nvSpPr>
        <p:spPr>
          <a:xfrm>
            <a:off x="2286000" y="1371600"/>
            <a:ext cx="3063240" cy="274320"/>
          </a:xfrm>
          <a:prstGeom prst="rect">
            <a:avLst/>
          </a:prstGeom>
          <a:noFill/>
          <a:ln/>
        </p:spPr>
        <p:txBody>
          <a:bodyPr wrap="square" lIns="0" tIns="0" rIns="0" bIns="0" rtlCol="0" anchor="ctr"/>
          <a:lstStyle/>
          <a:p>
            <a:pPr algn="ctr" indent="0" marL="0">
              <a:buNone/>
            </a:pPr>
            <a:r>
              <a:rPr lang="en-US" sz="1000" b="1" spc="300" kern="0" dirty="0">
                <a:solidFill>
                  <a:srgbClr val="9A7A2A"/>
                </a:solidFill>
                <a:latin typeface="Trebuchet MS" pitchFamily="34" charset="0"/>
                <a:ea typeface="Trebuchet MS" pitchFamily="34" charset="-122"/>
                <a:cs typeface="Trebuchet MS" pitchFamily="34" charset="-120"/>
              </a:rPr>
              <a:t>GLOW</a:t>
            </a:r>
            <a:endParaRPr lang="en-US" sz="1000" dirty="0"/>
          </a:p>
        </p:txBody>
      </p:sp>
      <p:sp>
        <p:nvSpPr>
          <p:cNvPr id="7" name="Text 4"/>
          <p:cNvSpPr/>
          <p:nvPr/>
        </p:nvSpPr>
        <p:spPr>
          <a:xfrm>
            <a:off x="5532120" y="1371600"/>
            <a:ext cx="3063240" cy="274320"/>
          </a:xfrm>
          <a:prstGeom prst="rect">
            <a:avLst/>
          </a:prstGeom>
          <a:noFill/>
          <a:ln/>
        </p:spPr>
        <p:txBody>
          <a:bodyPr wrap="square" lIns="0" tIns="0" rIns="0" bIns="0" rtlCol="0" anchor="ctr"/>
          <a:lstStyle/>
          <a:p>
            <a:pPr algn="ctr" indent="0" marL="0">
              <a:buNone/>
            </a:pPr>
            <a:r>
              <a:rPr lang="en-US" sz="1000" b="1" spc="300" kern="0" dirty="0">
                <a:solidFill>
                  <a:srgbClr val="1A7A6B"/>
                </a:solidFill>
                <a:latin typeface="Trebuchet MS" pitchFamily="34" charset="0"/>
                <a:ea typeface="Trebuchet MS" pitchFamily="34" charset="-122"/>
                <a:cs typeface="Trebuchet MS" pitchFamily="34" charset="-120"/>
              </a:rPr>
              <a:t>GROW</a:t>
            </a:r>
            <a:endParaRPr lang="en-US" sz="1000" dirty="0"/>
          </a:p>
        </p:txBody>
      </p:sp>
      <p:sp>
        <p:nvSpPr>
          <p:cNvPr id="8" name="Shape 5"/>
          <p:cNvSpPr/>
          <p:nvPr/>
        </p:nvSpPr>
        <p:spPr>
          <a:xfrm>
            <a:off x="548640" y="1719072"/>
            <a:ext cx="1600200" cy="868680"/>
          </a:xfrm>
          <a:prstGeom prst="rect">
            <a:avLst/>
          </a:prstGeom>
          <a:solidFill>
            <a:srgbClr val="2C2520"/>
          </a:solidFill>
          <a:ln/>
        </p:spPr>
      </p:sp>
      <p:sp>
        <p:nvSpPr>
          <p:cNvPr id="9" name="Text 6"/>
          <p:cNvSpPr/>
          <p:nvPr/>
        </p:nvSpPr>
        <p:spPr>
          <a:xfrm>
            <a:off x="548640" y="1719072"/>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Me</a:t>
            </a:r>
            <a:endParaRPr lang="en-US" sz="1300" dirty="0"/>
          </a:p>
        </p:txBody>
      </p:sp>
      <p:sp>
        <p:nvSpPr>
          <p:cNvPr id="10" name="Shape 7"/>
          <p:cNvSpPr/>
          <p:nvPr/>
        </p:nvSpPr>
        <p:spPr>
          <a:xfrm>
            <a:off x="2286000" y="1719072"/>
            <a:ext cx="3063240" cy="868680"/>
          </a:xfrm>
          <a:prstGeom prst="rect">
            <a:avLst/>
          </a:prstGeom>
          <a:solidFill>
            <a:srgbClr val="FAF4EA"/>
          </a:solidFill>
          <a:ln w="6350">
            <a:solidFill>
              <a:srgbClr val="E8DFD0"/>
            </a:solidFill>
            <a:prstDash val="solid"/>
          </a:ln>
        </p:spPr>
      </p:sp>
      <p:sp>
        <p:nvSpPr>
          <p:cNvPr id="11" name="Text 8"/>
          <p:cNvSpPr/>
          <p:nvPr/>
        </p:nvSpPr>
        <p:spPr>
          <a:xfrm>
            <a:off x="2395728" y="1719072"/>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Asked one question at a time, then waited. The quiet did the teaching.</a:t>
            </a:r>
            <a:endParaRPr lang="en-US" sz="1050" dirty="0"/>
          </a:p>
        </p:txBody>
      </p:sp>
      <p:sp>
        <p:nvSpPr>
          <p:cNvPr id="12" name="Shape 9"/>
          <p:cNvSpPr/>
          <p:nvPr/>
        </p:nvSpPr>
        <p:spPr>
          <a:xfrm>
            <a:off x="5532120" y="1719072"/>
            <a:ext cx="3063240" cy="868680"/>
          </a:xfrm>
          <a:prstGeom prst="rect">
            <a:avLst/>
          </a:prstGeom>
          <a:solidFill>
            <a:srgbClr val="EEF7F5"/>
          </a:solidFill>
          <a:ln w="6350">
            <a:solidFill>
              <a:srgbClr val="E8DFD0"/>
            </a:solidFill>
            <a:prstDash val="solid"/>
          </a:ln>
        </p:spPr>
      </p:sp>
      <p:sp>
        <p:nvSpPr>
          <p:cNvPr id="13" name="Text 10"/>
          <p:cNvSpPr/>
          <p:nvPr/>
        </p:nvSpPr>
        <p:spPr>
          <a:xfrm>
            <a:off x="5641848" y="1719072"/>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I handed her the Magic E answer instead of letting her guess first. Next time I ask twice before I tell.</a:t>
            </a:r>
            <a:endParaRPr lang="en-US" sz="1050" dirty="0"/>
          </a:p>
        </p:txBody>
      </p:sp>
      <p:sp>
        <p:nvSpPr>
          <p:cNvPr id="14" name="Shape 11"/>
          <p:cNvSpPr/>
          <p:nvPr/>
        </p:nvSpPr>
        <p:spPr>
          <a:xfrm>
            <a:off x="548640" y="2706624"/>
            <a:ext cx="1600200" cy="868680"/>
          </a:xfrm>
          <a:prstGeom prst="rect">
            <a:avLst/>
          </a:prstGeom>
          <a:solidFill>
            <a:srgbClr val="2C2520"/>
          </a:solidFill>
          <a:ln/>
        </p:spPr>
      </p:sp>
      <p:sp>
        <p:nvSpPr>
          <p:cNvPr id="15" name="Text 12"/>
          <p:cNvSpPr/>
          <p:nvPr/>
        </p:nvSpPr>
        <p:spPr>
          <a:xfrm>
            <a:off x="548640" y="2706624"/>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The Reader</a:t>
            </a:r>
            <a:endParaRPr lang="en-US" sz="1300" dirty="0"/>
          </a:p>
        </p:txBody>
      </p:sp>
      <p:sp>
        <p:nvSpPr>
          <p:cNvPr id="16" name="Shape 13"/>
          <p:cNvSpPr/>
          <p:nvPr/>
        </p:nvSpPr>
        <p:spPr>
          <a:xfrm>
            <a:off x="2286000" y="2706624"/>
            <a:ext cx="3063240" cy="868680"/>
          </a:xfrm>
          <a:prstGeom prst="rect">
            <a:avLst/>
          </a:prstGeom>
          <a:solidFill>
            <a:srgbClr val="FAF4EA"/>
          </a:solidFill>
          <a:ln w="6350">
            <a:solidFill>
              <a:srgbClr val="E8DFD0"/>
            </a:solidFill>
            <a:prstDash val="solid"/>
          </a:ln>
        </p:spPr>
      </p:sp>
      <p:sp>
        <p:nvSpPr>
          <p:cNvPr id="17" name="Text 14"/>
          <p:cNvSpPr/>
          <p:nvPr/>
        </p:nvSpPr>
        <p:spPr>
          <a:xfrm>
            <a:off x="2395728" y="2706624"/>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Spelled every word out loud before saying it, and called real or silly on her own by the end.</a:t>
            </a:r>
            <a:endParaRPr lang="en-US" sz="1050" dirty="0"/>
          </a:p>
        </p:txBody>
      </p:sp>
      <p:sp>
        <p:nvSpPr>
          <p:cNvPr id="18" name="Shape 15"/>
          <p:cNvSpPr/>
          <p:nvPr/>
        </p:nvSpPr>
        <p:spPr>
          <a:xfrm>
            <a:off x="5532120" y="2706624"/>
            <a:ext cx="3063240" cy="868680"/>
          </a:xfrm>
          <a:prstGeom prst="rect">
            <a:avLst/>
          </a:prstGeom>
          <a:solidFill>
            <a:srgbClr val="EEF7F5"/>
          </a:solidFill>
          <a:ln w="6350">
            <a:solidFill>
              <a:srgbClr val="E8DFD0"/>
            </a:solidFill>
            <a:prstDash val="solid"/>
          </a:ln>
        </p:spPr>
      </p:sp>
      <p:sp>
        <p:nvSpPr>
          <p:cNvPr id="19" name="Text 16"/>
          <p:cNvSpPr/>
          <p:nvPr/>
        </p:nvSpPr>
        <p:spPr>
          <a:xfrm>
            <a:off x="5641848" y="2706624"/>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Short vowel sounds still wobble, ah versus A. The wand gave her the why. Now she needs the reps.</a:t>
            </a:r>
            <a:endParaRPr lang="en-US" sz="1050" dirty="0"/>
          </a:p>
        </p:txBody>
      </p:sp>
      <p:sp>
        <p:nvSpPr>
          <p:cNvPr id="20" name="Shape 17"/>
          <p:cNvSpPr/>
          <p:nvPr/>
        </p:nvSpPr>
        <p:spPr>
          <a:xfrm>
            <a:off x="548640" y="3694176"/>
            <a:ext cx="1600200" cy="868680"/>
          </a:xfrm>
          <a:prstGeom prst="rect">
            <a:avLst/>
          </a:prstGeom>
          <a:solidFill>
            <a:srgbClr val="2C2520"/>
          </a:solidFill>
          <a:ln/>
        </p:spPr>
      </p:sp>
      <p:sp>
        <p:nvSpPr>
          <p:cNvPr id="21" name="Text 18"/>
          <p:cNvSpPr/>
          <p:nvPr/>
        </p:nvSpPr>
        <p:spPr>
          <a:xfrm>
            <a:off x="548640" y="3694176"/>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The Horse</a:t>
            </a:r>
            <a:endParaRPr lang="en-US" sz="1300" dirty="0"/>
          </a:p>
        </p:txBody>
      </p:sp>
      <p:sp>
        <p:nvSpPr>
          <p:cNvPr id="22" name="Shape 19"/>
          <p:cNvSpPr/>
          <p:nvPr/>
        </p:nvSpPr>
        <p:spPr>
          <a:xfrm>
            <a:off x="2286000" y="3694176"/>
            <a:ext cx="3063240" cy="868680"/>
          </a:xfrm>
          <a:prstGeom prst="rect">
            <a:avLst/>
          </a:prstGeom>
          <a:solidFill>
            <a:srgbClr val="FAF4EA"/>
          </a:solidFill>
          <a:ln w="6350">
            <a:solidFill>
              <a:srgbClr val="E8DFD0"/>
            </a:solidFill>
            <a:prstDash val="solid"/>
          </a:ln>
        </p:spPr>
      </p:sp>
      <p:sp>
        <p:nvSpPr>
          <p:cNvPr id="23" name="Text 20"/>
          <p:cNvSpPr/>
          <p:nvPr/>
        </p:nvSpPr>
        <p:spPr>
          <a:xfrm>
            <a:off x="2395728" y="3694176"/>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He picked word cards like he was dealt into the game, then stood like a stone while she read.</a:t>
            </a:r>
            <a:endParaRPr lang="en-US" sz="1050" dirty="0"/>
          </a:p>
        </p:txBody>
      </p:sp>
      <p:sp>
        <p:nvSpPr>
          <p:cNvPr id="24" name="Shape 21"/>
          <p:cNvSpPr/>
          <p:nvPr/>
        </p:nvSpPr>
        <p:spPr>
          <a:xfrm>
            <a:off x="5532120" y="3694176"/>
            <a:ext cx="3063240" cy="868680"/>
          </a:xfrm>
          <a:prstGeom prst="rect">
            <a:avLst/>
          </a:prstGeom>
          <a:solidFill>
            <a:srgbClr val="EEF7F5"/>
          </a:solidFill>
          <a:ln w="6350">
            <a:solidFill>
              <a:srgbClr val="E8DFD0"/>
            </a:solidFill>
            <a:prstDash val="solid"/>
          </a:ln>
        </p:spPr>
      </p:sp>
      <p:sp>
        <p:nvSpPr>
          <p:cNvPr id="25" name="Text 22"/>
          <p:cNvSpPr/>
          <p:nvPr/>
        </p:nvSpPr>
        <p:spPr>
          <a:xfrm>
            <a:off x="5641848" y="3694176"/>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Walking a cone line past loose hay without a snack stop is still a lesson in progress.</a:t>
            </a:r>
            <a:endParaRPr lang="en-US" sz="1050" dirty="0"/>
          </a:p>
        </p:txBody>
      </p:sp>
      <p:sp>
        <p:nvSpPr>
          <p:cNvPr id="26" name="Shape 23"/>
          <p:cNvSpPr/>
          <p:nvPr/>
        </p:nvSpPr>
        <p:spPr>
          <a:xfrm>
            <a:off x="548640" y="4828032"/>
            <a:ext cx="8046720" cy="0"/>
          </a:xfrm>
          <a:prstGeom prst="line">
            <a:avLst/>
          </a:prstGeom>
          <a:noFill/>
          <a:ln w="9525">
            <a:solidFill>
              <a:srgbClr val="E0D6C8"/>
            </a:solidFill>
            <a:prstDash val="solid"/>
          </a:ln>
        </p:spPr>
      </p:sp>
      <p:sp>
        <p:nvSpPr>
          <p:cNvPr id="27" name="Text 24"/>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28" name="Text 25"/>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pic>
        <p:nvPicPr>
          <p:cNvPr id="4" name="Image 0" descr="preencoded.png">    </p:cNvPr>
          <p:cNvPicPr>
            <a:picLocks noChangeAspect="1"/>
          </p:cNvPicPr>
          <p:nvPr/>
        </p:nvPicPr>
        <p:blipFill>
          <a:blip r:embed="rId1"/>
          <a:stretch>
            <a:fillRect/>
          </a:stretch>
        </p:blipFill>
        <p:spPr>
          <a:xfrm>
            <a:off x="4023360" y="502920"/>
            <a:ext cx="1097280" cy="1097280"/>
          </a:xfrm>
          <a:prstGeom prst="rect">
            <a:avLst/>
          </a:prstGeom>
        </p:spPr>
      </p:pic>
      <p:sp>
        <p:nvSpPr>
          <p:cNvPr id="5" name="Text 2"/>
          <p:cNvSpPr/>
          <p:nvPr/>
        </p:nvSpPr>
        <p:spPr>
          <a:xfrm>
            <a:off x="914400" y="1783080"/>
            <a:ext cx="7315200" cy="320040"/>
          </a:xfrm>
          <a:prstGeom prst="rect">
            <a:avLst/>
          </a:prstGeom>
          <a:noFill/>
          <a:ln/>
        </p:spPr>
        <p:txBody>
          <a:bodyPr wrap="square" lIns="0" tIns="0" rIns="0" bIns="0" rtlCol="0" anchor="ctr"/>
          <a:lstStyle/>
          <a:p>
            <a:pPr algn="ctr" indent="0" marL="0">
              <a:buNone/>
            </a:pPr>
            <a:r>
              <a:rPr lang="en-US" sz="1100" b="1" spc="400" kern="0" dirty="0">
                <a:solidFill>
                  <a:srgbClr val="D4A843"/>
                </a:solidFill>
                <a:latin typeface="Trebuchet MS" pitchFamily="34" charset="0"/>
                <a:ea typeface="Trebuchet MS" pitchFamily="34" charset="-122"/>
                <a:cs typeface="Trebuchet MS" pitchFamily="34" charset="-120"/>
              </a:rPr>
              <a:t>PLANTING HPR ROOTS IN NORTH IDAHO</a:t>
            </a:r>
            <a:endParaRPr lang="en-US" sz="1100" dirty="0"/>
          </a:p>
        </p:txBody>
      </p:sp>
      <p:sp>
        <p:nvSpPr>
          <p:cNvPr id="6" name="Text 3"/>
          <p:cNvSpPr/>
          <p:nvPr/>
        </p:nvSpPr>
        <p:spPr>
          <a:xfrm>
            <a:off x="914400" y="2103120"/>
            <a:ext cx="7315200" cy="548640"/>
          </a:xfrm>
          <a:prstGeom prst="rect">
            <a:avLst/>
          </a:prstGeom>
          <a:noFill/>
          <a:ln/>
        </p:spPr>
        <p:txBody>
          <a:bodyPr wrap="square" lIns="0" tIns="0" rIns="0" bIns="0" rtlCol="0" anchor="ctr"/>
          <a:lstStyle/>
          <a:p>
            <a:pPr algn="ctr" indent="0" marL="0">
              <a:buNone/>
            </a:pPr>
            <a:r>
              <a:rPr lang="en-US" sz="2800" dirty="0">
                <a:solidFill>
                  <a:srgbClr val="F3EDE3"/>
                </a:solidFill>
                <a:latin typeface="Georgia" pitchFamily="34" charset="0"/>
                <a:ea typeface="Georgia" pitchFamily="34" charset="-122"/>
                <a:cs typeface="Georgia" pitchFamily="34" charset="-120"/>
              </a:rPr>
              <a:t>Where This Goes From Here</a:t>
            </a:r>
            <a:endParaRPr lang="en-US" sz="2800" dirty="0"/>
          </a:p>
        </p:txBody>
      </p:sp>
      <p:sp>
        <p:nvSpPr>
          <p:cNvPr id="7" name="Text 4"/>
          <p:cNvSpPr/>
          <p:nvPr/>
        </p:nvSpPr>
        <p:spPr>
          <a:xfrm>
            <a:off x="1371600" y="2834640"/>
            <a:ext cx="6400800" cy="914400"/>
          </a:xfrm>
          <a:prstGeom prst="rect">
            <a:avLst/>
          </a:prstGeom>
          <a:noFill/>
          <a:ln/>
        </p:spPr>
        <p:txBody>
          <a:bodyPr wrap="square" lIns="0" tIns="0" rIns="0" bIns="0" rtlCol="0" anchor="ctr"/>
          <a:lstStyle/>
          <a:p>
            <a:pPr algn="ctr" indent="0" marL="0">
              <a:buNone/>
            </a:pPr>
            <a:r>
              <a:rPr lang="en-US" sz="1300" i="1" dirty="0">
                <a:solidFill>
                  <a:srgbClr val="C8A96E"/>
                </a:solidFill>
                <a:latin typeface="Georgia" pitchFamily="34" charset="0"/>
                <a:ea typeface="Georgia" pitchFamily="34" charset="-122"/>
                <a:cs typeface="Georgia" pitchFamily="34" charset="-120"/>
              </a:rPr>
              <a:t>Horse Powered Reading folds into Tribal Cowboy's Pony Express Program: reading sessions at the ranch and school visits across Kootenai and Bonner counties, starting with the kids reading below grade level.</a:t>
            </a:r>
            <a:endParaRPr lang="en-US" sz="1300" dirty="0"/>
          </a:p>
        </p:txBody>
      </p:sp>
      <p:sp>
        <p:nvSpPr>
          <p:cNvPr id="8" name="Shape 5"/>
          <p:cNvSpPr/>
          <p:nvPr/>
        </p:nvSpPr>
        <p:spPr>
          <a:xfrm>
            <a:off x="4023360" y="3931920"/>
            <a:ext cx="1097280" cy="0"/>
          </a:xfrm>
          <a:prstGeom prst="line">
            <a:avLst/>
          </a:prstGeom>
          <a:noFill/>
          <a:ln w="19050">
            <a:solidFill>
              <a:srgbClr val="D4A843"/>
            </a:solidFill>
            <a:prstDash val="solid"/>
          </a:ln>
        </p:spPr>
      </p:sp>
      <p:sp>
        <p:nvSpPr>
          <p:cNvPr id="9" name="Text 6"/>
          <p:cNvSpPr/>
          <p:nvPr/>
        </p:nvSpPr>
        <p:spPr>
          <a:xfrm>
            <a:off x="914400" y="4069080"/>
            <a:ext cx="7315200" cy="320040"/>
          </a:xfrm>
          <a:prstGeom prst="rect">
            <a:avLst/>
          </a:prstGeom>
          <a:noFill/>
          <a:ln/>
        </p:spPr>
        <p:txBody>
          <a:bodyPr wrap="square" lIns="0" tIns="0" rIns="0" bIns="0" rtlCol="0" anchor="ctr"/>
          <a:lstStyle/>
          <a:p>
            <a:pPr algn="ctr" indent="0" marL="0">
              <a:buNone/>
            </a:pPr>
            <a:r>
              <a:rPr lang="en-US" sz="1200" dirty="0">
                <a:solidFill>
                  <a:srgbClr val="F3EDE3"/>
                </a:solidFill>
                <a:latin typeface="Trebuchet MS" pitchFamily="34" charset="0"/>
                <a:ea typeface="Trebuchet MS" pitchFamily="34" charset="-122"/>
                <a:cs typeface="Trebuchet MS" pitchFamily="34" charset="-120"/>
              </a:rPr>
              <a:t>Thank you — and thank you to the horses.</a:t>
            </a:r>
            <a:endParaRPr lang="en-US" sz="1200" dirty="0"/>
          </a:p>
        </p:txBody>
      </p:sp>
      <p:sp>
        <p:nvSpPr>
          <p:cNvPr id="10" name="Text 7"/>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1" name="Text 8"/>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2026-08-24T21:10:32Z</dcterms:created>
  <dcterms:modified xsi:type="dcterms:W3CDTF">2026-08-24T21:10:32Z</dcterms:modified>
</cp:coreProperties>
</file>