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one line about why you signed up for HPR — your ponies, your Clydesdales, and kids who need a different way into reading. Keep it under 30 seconds, then go straight to the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each card from your session journals. If you worked with the same child both times, say so here — it sets up the “building on session 1”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class through Word Racer in about a minute: word cards taped to the cones and the Magic E wand I 3D printed. Charlie the Fjord walked the line and stopped to pick each card. Charlie read the short vowel word, tapped it with the wand, and read the new word: tap to tape, kit to kite. He set the pace, which kept her from rushing. About 45 seconds here, then the reflections carry the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boxes answer Ruth's prompts directly: the ah-ha moment, what you learned, and the horse holding space / giving feedback. One or two sentences each — a specific detail (what the horse did with its body, the exact words the child used) lands better than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class through the Pony Express Mailbox in about a minute: I wrote a W on the mailbox and 3D printed the phonogram discs. Charlie tested each disc against the letter, sounded out the pair, and called it real or silly. Real words went in the mailbox for a point each: wash, way, wow. Sillies got tossed, and wame drew the biggest laugh. One disc sat upside down until she flipped it and found wow. Points counted to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boxes answer Ruth's prompts directly: the ah-ha moment, what you learned, and the horse holding space / giving feedback. One or two sentences each — a specific detail (what the horse did with its body, the exact words the child used) lands better than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Ruth asked for one metaphor from your sessions, described. Pick the one that gave you goosebumps. Say the metaphor, pause, then explain it — don't rush this slide, it's the emotional center of your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GLOW / GROW self-reflection another participant shared. Fill it across both sessions — you don't need one per session. Be honest in the “Me · Grow” box; that's the one the class learns most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where you want to take HPR: your own herd, your own community, Tribal Cowboy's school programs. This is also your invitation to the class — you're building this in North Idaho and open to brainstorming at the live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2520"/>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4A843"/>
          </a:solidFill>
          <a:ln/>
        </p:spPr>
      </p:sp>
      <p:sp>
        <p:nvSpPr>
          <p:cNvPr id="3" name="Shape 1"/>
          <p:cNvSpPr/>
          <p:nvPr/>
        </p:nvSpPr>
        <p:spPr>
          <a:xfrm>
            <a:off x="0" y="5088636"/>
            <a:ext cx="9144000" cy="54864"/>
          </a:xfrm>
          <a:prstGeom prst="rect">
            <a:avLst/>
          </a:prstGeom>
          <a:solidFill>
            <a:srgbClr val="D4A843"/>
          </a:solidFill>
          <a:ln/>
        </p:spPr>
      </p:sp>
      <p:sp>
        <p:nvSpPr>
          <p:cNvPr id="4" name="Shape 2"/>
          <p:cNvSpPr/>
          <p:nvPr/>
        </p:nvSpPr>
        <p:spPr>
          <a:xfrm>
            <a:off x="457200" y="128016"/>
            <a:ext cx="8229600" cy="0"/>
          </a:xfrm>
          <a:prstGeom prst="line">
            <a:avLst/>
          </a:prstGeom>
          <a:noFill/>
          <a:ln w="12700">
            <a:solidFill>
              <a:srgbClr val="C8A96E">
                <a:alpha val="50000"/>
              </a:srgbClr>
            </a:solidFill>
            <a:prstDash val="solid"/>
          </a:ln>
        </p:spPr>
      </p:sp>
      <p:sp>
        <p:nvSpPr>
          <p:cNvPr id="5" name="Shape 3"/>
          <p:cNvSpPr/>
          <p:nvPr/>
        </p:nvSpPr>
        <p:spPr>
          <a:xfrm>
            <a:off x="457200" y="5015484"/>
            <a:ext cx="8229600" cy="0"/>
          </a:xfrm>
          <a:prstGeom prst="line">
            <a:avLst/>
          </a:prstGeom>
          <a:noFill/>
          <a:ln w="12700">
            <a:solidFill>
              <a:srgbClr val="C8A96E">
                <a:alpha val="50000"/>
              </a:srgbClr>
            </a:solidFill>
            <a:prstDash val="solid"/>
          </a:ln>
        </p:spPr>
      </p:sp>
      <p:pic>
        <p:nvPicPr>
          <p:cNvPr id="6" name="Image 0" descr="preencoded.png">    </p:cNvPr>
          <p:cNvPicPr>
            <a:picLocks noChangeAspect="1"/>
          </p:cNvPicPr>
          <p:nvPr/>
        </p:nvPicPr>
        <p:blipFill>
          <a:blip r:embed="rId1"/>
          <a:stretch>
            <a:fillRect/>
          </a:stretch>
        </p:blipFill>
        <p:spPr>
          <a:xfrm>
            <a:off x="3886200" y="384048"/>
            <a:ext cx="1371600" cy="1371600"/>
          </a:xfrm>
          <a:prstGeom prst="rect">
            <a:avLst/>
          </a:prstGeom>
        </p:spPr>
      </p:pic>
      <p:sp>
        <p:nvSpPr>
          <p:cNvPr id="7" name="Text 4"/>
          <p:cNvSpPr/>
          <p:nvPr/>
        </p:nvSpPr>
        <p:spPr>
          <a:xfrm>
            <a:off x="914400" y="1874520"/>
            <a:ext cx="7315200" cy="320040"/>
          </a:xfrm>
          <a:prstGeom prst="rect">
            <a:avLst/>
          </a:prstGeom>
          <a:noFill/>
          <a:ln/>
        </p:spPr>
        <p:txBody>
          <a:bodyPr wrap="square" lIns="0" tIns="0" rIns="0" bIns="0" rtlCol="0" anchor="ctr"/>
          <a:lstStyle/>
          <a:p>
            <a:pPr algn="ctr" indent="0" marL="0">
              <a:buNone/>
            </a:pPr>
            <a:r>
              <a:rPr lang="en-US" sz="1200" b="1" spc="400" kern="0" dirty="0">
                <a:solidFill>
                  <a:srgbClr val="D4A843"/>
                </a:solidFill>
                <a:latin typeface="Trebuchet MS" pitchFamily="34" charset="0"/>
                <a:ea typeface="Trebuchet MS" pitchFamily="34" charset="-122"/>
                <a:cs typeface="Trebuchet MS" pitchFamily="34" charset="-120"/>
              </a:rPr>
              <a:t>HORSE POWERED READING  ·  CLASS #4</a:t>
            </a:r>
            <a:endParaRPr lang="en-US" sz="1200" dirty="0"/>
          </a:p>
        </p:txBody>
      </p:sp>
      <p:sp>
        <p:nvSpPr>
          <p:cNvPr id="8" name="Text 5"/>
          <p:cNvSpPr/>
          <p:nvPr/>
        </p:nvSpPr>
        <p:spPr>
          <a:xfrm>
            <a:off x="640080" y="2212848"/>
            <a:ext cx="7863840" cy="914400"/>
          </a:xfrm>
          <a:prstGeom prst="rect">
            <a:avLst/>
          </a:prstGeom>
          <a:noFill/>
          <a:ln/>
        </p:spPr>
        <p:txBody>
          <a:bodyPr wrap="square" lIns="0" tIns="0" rIns="0" bIns="0" rtlCol="0" anchor="ctr"/>
          <a:lstStyle/>
          <a:p>
            <a:pPr algn="ctr" indent="0" marL="0">
              <a:buNone/>
            </a:pPr>
            <a:r>
              <a:rPr lang="en-US" sz="3200" dirty="0">
                <a:solidFill>
                  <a:srgbClr val="F3EDE3"/>
                </a:solidFill>
                <a:latin typeface="Georgia" pitchFamily="34" charset="0"/>
                <a:ea typeface="Georgia" pitchFamily="34" charset="-122"/>
                <a:cs typeface="Georgia" pitchFamily="34" charset="-120"/>
              </a:rPr>
              <a:t>Two Practice Sessions, Feet and Hooves on the Ground</a:t>
            </a:r>
            <a:endParaRPr lang="en-US" sz="3200" dirty="0"/>
          </a:p>
        </p:txBody>
      </p:sp>
      <p:sp>
        <p:nvSpPr>
          <p:cNvPr id="9" name="Text 6"/>
          <p:cNvSpPr/>
          <p:nvPr/>
        </p:nvSpPr>
        <p:spPr>
          <a:xfrm>
            <a:off x="914400" y="3200400"/>
            <a:ext cx="7315200" cy="365760"/>
          </a:xfrm>
          <a:prstGeom prst="rect">
            <a:avLst/>
          </a:prstGeom>
          <a:noFill/>
          <a:ln/>
        </p:spPr>
        <p:txBody>
          <a:bodyPr wrap="square" lIns="0" tIns="0" rIns="0" bIns="0" rtlCol="0" anchor="ctr"/>
          <a:lstStyle/>
          <a:p>
            <a:pPr algn="ctr" indent="0" marL="0">
              <a:buNone/>
            </a:pPr>
            <a:r>
              <a:rPr lang="en-US" sz="1500" i="1" dirty="0">
                <a:solidFill>
                  <a:srgbClr val="C8A96E"/>
                </a:solidFill>
                <a:latin typeface="Georgia" pitchFamily="34" charset="0"/>
                <a:ea typeface="Georgia" pitchFamily="34" charset="-122"/>
                <a:cs typeface="Georgia" pitchFamily="34" charset="-120"/>
              </a:rPr>
              <a:t>Stacie  ·  Tribal Cowboy LLC  ·  Athol, Idaho</a:t>
            </a:r>
            <a:endParaRPr lang="en-US" sz="1500" dirty="0"/>
          </a:p>
        </p:txBody>
      </p:sp>
      <p:sp>
        <p:nvSpPr>
          <p:cNvPr id="10" name="Shape 7"/>
          <p:cNvSpPr/>
          <p:nvPr/>
        </p:nvSpPr>
        <p:spPr>
          <a:xfrm>
            <a:off x="4023360" y="3730752"/>
            <a:ext cx="1097280" cy="0"/>
          </a:xfrm>
          <a:prstGeom prst="line">
            <a:avLst/>
          </a:prstGeom>
          <a:noFill/>
          <a:ln w="19050">
            <a:solidFill>
              <a:srgbClr val="D4A843"/>
            </a:solidFill>
            <a:prstDash val="solid"/>
          </a:ln>
        </p:spPr>
      </p:sp>
      <p:sp>
        <p:nvSpPr>
          <p:cNvPr id="11" name="Text 8"/>
          <p:cNvSpPr/>
          <p:nvPr/>
        </p:nvSpPr>
        <p:spPr>
          <a:xfrm>
            <a:off x="914400" y="3886200"/>
            <a:ext cx="7315200" cy="274320"/>
          </a:xfrm>
          <a:prstGeom prst="rect">
            <a:avLst/>
          </a:prstGeom>
          <a:noFill/>
          <a:ln/>
        </p:spPr>
        <p:txBody>
          <a:bodyPr wrap="square" lIns="0" tIns="0" rIns="0" bIns="0" rtlCol="0" anchor="ctr"/>
          <a:lstStyle/>
          <a:p>
            <a:pPr algn="ctr" indent="0" marL="0">
              <a:buNone/>
            </a:pPr>
            <a:r>
              <a:rPr lang="en-US" sz="1000" dirty="0">
                <a:solidFill>
                  <a:srgbClr val="8A7560"/>
                </a:solidFill>
                <a:latin typeface="Trebuchet MS" pitchFamily="34" charset="0"/>
                <a:ea typeface="Trebuchet MS" pitchFamily="34" charset="-122"/>
                <a:cs typeface="Trebuchet MS" pitchFamily="34" charset="-120"/>
              </a:rPr>
              <a:t>HPR Facilitator Course  ·  August 2026</a:t>
            </a:r>
            <a:endParaRPr lang="en-US" sz="1000" dirty="0"/>
          </a:p>
        </p:txBody>
      </p:sp>
      <p:sp>
        <p:nvSpPr>
          <p:cNvPr id="12" name="Text 9"/>
          <p:cNvSpPr/>
          <p:nvPr/>
        </p:nvSpPr>
        <p:spPr>
          <a:xfrm>
            <a:off x="548640" y="4709160"/>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3" name="Text 10"/>
          <p:cNvSpPr/>
          <p:nvPr/>
        </p:nvSpPr>
        <p:spPr>
          <a:xfrm>
            <a:off x="5852160" y="4709160"/>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SESSIONS AT A GLANCE</a:t>
            </a:r>
            <a:endParaRPr lang="en-US" sz="1000" dirty="0"/>
          </a:p>
        </p:txBody>
      </p:sp>
      <p:sp>
        <p:nvSpPr>
          <p:cNvPr id="5" name="Text 2"/>
          <p:cNvSpPr/>
          <p:nvPr/>
        </p:nvSpPr>
        <p:spPr>
          <a:xfrm>
            <a:off x="548640" y="841248"/>
            <a:ext cx="8046720" cy="45720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Two Sessions, Two Lessons</a:t>
            </a:r>
            <a:endParaRPr lang="en-US" sz="2400" dirty="0"/>
          </a:p>
        </p:txBody>
      </p:sp>
      <p:sp>
        <p:nvSpPr>
          <p:cNvPr id="6" name="Shape 3"/>
          <p:cNvSpPr/>
          <p:nvPr/>
        </p:nvSpPr>
        <p:spPr>
          <a:xfrm>
            <a:off x="548640" y="1417320"/>
            <a:ext cx="3886200" cy="3154680"/>
          </a:xfrm>
          <a:prstGeom prst="rect">
            <a:avLst/>
          </a:prstGeom>
          <a:solidFill>
            <a:srgbClr val="FFFCF7"/>
          </a:solidFill>
          <a:ln w="6350">
            <a:solidFill>
              <a:srgbClr val="E8DFD0"/>
            </a:solidFill>
            <a:prstDash val="solid"/>
          </a:ln>
        </p:spPr>
      </p:sp>
      <p:sp>
        <p:nvSpPr>
          <p:cNvPr id="7" name="Shape 4"/>
          <p:cNvSpPr/>
          <p:nvPr/>
        </p:nvSpPr>
        <p:spPr>
          <a:xfrm>
            <a:off x="548640" y="1417320"/>
            <a:ext cx="3886200" cy="274320"/>
          </a:xfrm>
          <a:prstGeom prst="rect">
            <a:avLst/>
          </a:prstGeom>
          <a:solidFill>
            <a:srgbClr val="D4A843"/>
          </a:solidFill>
          <a:ln w="12700">
            <a:solidFill>
              <a:srgbClr val="D4A843"/>
            </a:solidFill>
            <a:prstDash val="solid"/>
          </a:ln>
        </p:spPr>
      </p:sp>
      <p:sp>
        <p:nvSpPr>
          <p:cNvPr id="8" name="Text 5"/>
          <p:cNvSpPr/>
          <p:nvPr/>
        </p:nvSpPr>
        <p:spPr>
          <a:xfrm>
            <a:off x="548640" y="1417320"/>
            <a:ext cx="3886200" cy="274320"/>
          </a:xfrm>
          <a:prstGeom prst="rect">
            <a:avLst/>
          </a:prstGeom>
          <a:noFill/>
          <a:ln/>
        </p:spPr>
        <p:txBody>
          <a:bodyPr wrap="square" lIns="0" tIns="0" rIns="0" bIns="0" rtlCol="0" anchor="ctr"/>
          <a:lstStyle/>
          <a:p>
            <a:pPr algn="ctr" indent="0" marL="0">
              <a:buNone/>
            </a:pPr>
            <a:r>
              <a:rPr lang="en-US" sz="900" b="1" spc="200" kern="0" dirty="0">
                <a:solidFill>
                  <a:srgbClr val="1E1208"/>
                </a:solidFill>
                <a:latin typeface="Trebuchet MS" pitchFamily="34" charset="0"/>
                <a:ea typeface="Trebuchet MS" pitchFamily="34" charset="-122"/>
                <a:cs typeface="Trebuchet MS" pitchFamily="34" charset="-120"/>
              </a:rPr>
              <a:t>SESSION 1</a:t>
            </a:r>
            <a:endParaRPr lang="en-US" sz="900" dirty="0"/>
          </a:p>
        </p:txBody>
      </p:sp>
      <p:sp>
        <p:nvSpPr>
          <p:cNvPr id="9" name="Text 6"/>
          <p:cNvSpPr/>
          <p:nvPr/>
        </p:nvSpPr>
        <p:spPr>
          <a:xfrm>
            <a:off x="777240" y="1810512"/>
            <a:ext cx="3429000" cy="2651760"/>
          </a:xfrm>
          <a:prstGeom prst="rect">
            <a:avLst/>
          </a:prstGeom>
          <a:noFill/>
          <a:ln/>
        </p:spPr>
        <p:txBody>
          <a:bodyPr wrap="square" lIns="0" tIns="0" rIns="0" bIns="0" rtlCol="0" anchor="t"/>
          <a:lstStyle/>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Lesson</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Word Racer: CVC words &amp; Magic E</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Reader(s)</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Charlie, age 6</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Horse</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Charlie the Fjord</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When &amp; where</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Friday, August 21 · the ranch</a:t>
            </a:r>
            <a:endParaRPr lang="en-US" sz="900" dirty="0"/>
          </a:p>
        </p:txBody>
      </p:sp>
      <p:sp>
        <p:nvSpPr>
          <p:cNvPr id="10" name="Shape 7"/>
          <p:cNvSpPr/>
          <p:nvPr/>
        </p:nvSpPr>
        <p:spPr>
          <a:xfrm>
            <a:off x="4709160" y="1417320"/>
            <a:ext cx="3886200" cy="3154680"/>
          </a:xfrm>
          <a:prstGeom prst="rect">
            <a:avLst/>
          </a:prstGeom>
          <a:solidFill>
            <a:srgbClr val="FFFCF7"/>
          </a:solidFill>
          <a:ln w="6350">
            <a:solidFill>
              <a:srgbClr val="E8DFD0"/>
            </a:solidFill>
            <a:prstDash val="solid"/>
          </a:ln>
        </p:spPr>
      </p:sp>
      <p:sp>
        <p:nvSpPr>
          <p:cNvPr id="11" name="Shape 8"/>
          <p:cNvSpPr/>
          <p:nvPr/>
        </p:nvSpPr>
        <p:spPr>
          <a:xfrm>
            <a:off x="4709160" y="1417320"/>
            <a:ext cx="3886200" cy="274320"/>
          </a:xfrm>
          <a:prstGeom prst="rect">
            <a:avLst/>
          </a:prstGeom>
          <a:solidFill>
            <a:srgbClr val="1A7A6B"/>
          </a:solidFill>
          <a:ln w="12700">
            <a:solidFill>
              <a:srgbClr val="1A7A6B"/>
            </a:solidFill>
            <a:prstDash val="solid"/>
          </a:ln>
        </p:spPr>
      </p:sp>
      <p:sp>
        <p:nvSpPr>
          <p:cNvPr id="12" name="Text 9"/>
          <p:cNvSpPr/>
          <p:nvPr/>
        </p:nvSpPr>
        <p:spPr>
          <a:xfrm>
            <a:off x="4709160" y="1417320"/>
            <a:ext cx="3886200" cy="274320"/>
          </a:xfrm>
          <a:prstGeom prst="rect">
            <a:avLst/>
          </a:prstGeom>
          <a:noFill/>
          <a:ln/>
        </p:spPr>
        <p:txBody>
          <a:bodyPr wrap="square" lIns="0" tIns="0" rIns="0" bIns="0" rtlCol="0" anchor="ctr"/>
          <a:lstStyle/>
          <a:p>
            <a:pPr algn="ctr" indent="0" marL="0">
              <a:buNone/>
            </a:pPr>
            <a:r>
              <a:rPr lang="en-US" sz="900" b="1" spc="200" kern="0" dirty="0">
                <a:solidFill>
                  <a:srgbClr val="D0F0EA"/>
                </a:solidFill>
                <a:latin typeface="Trebuchet MS" pitchFamily="34" charset="0"/>
                <a:ea typeface="Trebuchet MS" pitchFamily="34" charset="-122"/>
                <a:cs typeface="Trebuchet MS" pitchFamily="34" charset="-120"/>
              </a:rPr>
              <a:t>SESSION 2</a:t>
            </a:r>
            <a:endParaRPr lang="en-US" sz="900" dirty="0"/>
          </a:p>
        </p:txBody>
      </p:sp>
      <p:sp>
        <p:nvSpPr>
          <p:cNvPr id="13" name="Text 10"/>
          <p:cNvSpPr/>
          <p:nvPr/>
        </p:nvSpPr>
        <p:spPr>
          <a:xfrm>
            <a:off x="4937760" y="1810512"/>
            <a:ext cx="3429000" cy="2651760"/>
          </a:xfrm>
          <a:prstGeom prst="rect">
            <a:avLst/>
          </a:prstGeom>
          <a:noFill/>
          <a:ln/>
        </p:spPr>
        <p:txBody>
          <a:bodyPr wrap="square" lIns="0" tIns="0" rIns="0" bIns="0" rtlCol="0" anchor="t"/>
          <a:lstStyle/>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Lesson</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Pony Express Mailbox: letter + 3D discs</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Reader(s)</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Charlie, age 6</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Horse</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Charlie the Fjord</a:t>
            </a:r>
            <a:endParaRPr lang="en-US" sz="900" dirty="0"/>
          </a:p>
          <a:p>
            <a:pPr indent="0" marL="0">
              <a:buNone/>
            </a:pPr>
            <a:r>
              <a:rPr lang="en-US" sz="700" dirty="0">
                <a:solidFill>
                  <a:srgbClr val="000000"/>
                </a:solidFill>
              </a:rPr>
              <a:t> </a:t>
            </a:r>
            <a:endParaRPr lang="en-US" sz="900" dirty="0"/>
          </a:p>
          <a:p>
            <a:pPr indent="0" marL="0">
              <a:buNone/>
            </a:pPr>
            <a:r>
              <a:rPr lang="en-US" sz="900" b="1" spc="100" kern="0" dirty="0">
                <a:solidFill>
                  <a:srgbClr val="1A7A6B"/>
                </a:solidFill>
                <a:latin typeface="Trebuchet MS" pitchFamily="34" charset="0"/>
                <a:ea typeface="Trebuchet MS" pitchFamily="34" charset="-122"/>
                <a:cs typeface="Trebuchet MS" pitchFamily="34" charset="-120"/>
              </a:rPr>
              <a:t>When &amp; where</a:t>
            </a:r>
            <a:endParaRPr lang="en-US" sz="900" dirty="0"/>
          </a:p>
          <a:p>
            <a:pPr indent="0" marL="0">
              <a:buNone/>
            </a:pPr>
            <a:r>
              <a:rPr lang="en-US" sz="1150" dirty="0">
                <a:solidFill>
                  <a:srgbClr val="2C2520"/>
                </a:solidFill>
                <a:latin typeface="Georgia" pitchFamily="34" charset="0"/>
                <a:ea typeface="Georgia" pitchFamily="34" charset="-122"/>
                <a:cs typeface="Georgia" pitchFamily="34" charset="-120"/>
              </a:rPr>
              <a:t>Friday, August 21 · the trailer</a:t>
            </a:r>
            <a:endParaRPr lang="en-US" sz="900" dirty="0"/>
          </a:p>
        </p:txBody>
      </p:sp>
      <p:sp>
        <p:nvSpPr>
          <p:cNvPr id="14" name="Shape 11"/>
          <p:cNvSpPr/>
          <p:nvPr/>
        </p:nvSpPr>
        <p:spPr>
          <a:xfrm>
            <a:off x="548640" y="4828032"/>
            <a:ext cx="8046720" cy="0"/>
          </a:xfrm>
          <a:prstGeom prst="line">
            <a:avLst/>
          </a:prstGeom>
          <a:noFill/>
          <a:ln w="9525">
            <a:solidFill>
              <a:srgbClr val="E0D6C8"/>
            </a:solidFill>
            <a:prstDash val="solid"/>
          </a:ln>
        </p:spPr>
      </p:sp>
      <p:sp>
        <p:nvSpPr>
          <p:cNvPr id="15" name="Text 12"/>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6" name="Text 13"/>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 1  ·  WHAT WE DID</a:t>
            </a:r>
            <a:endParaRPr lang="en-US" sz="1000" dirty="0"/>
          </a:p>
        </p:txBody>
      </p:sp>
      <p:sp>
        <p:nvSpPr>
          <p:cNvPr id="5" name="Text 2"/>
          <p:cNvSpPr/>
          <p:nvPr/>
        </p:nvSpPr>
        <p:spPr>
          <a:xfrm>
            <a:off x="548640" y="841248"/>
            <a:ext cx="4846320" cy="50292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Session 1: Word Racer</a:t>
            </a:r>
            <a:endParaRPr lang="en-US" sz="2400" dirty="0"/>
          </a:p>
        </p:txBody>
      </p:sp>
      <p:sp>
        <p:nvSpPr>
          <p:cNvPr id="6" name="Text 3"/>
          <p:cNvSpPr/>
          <p:nvPr/>
        </p:nvSpPr>
        <p:spPr>
          <a:xfrm>
            <a:off x="548640" y="1508760"/>
            <a:ext cx="4663440" cy="210312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574838"/>
                </a:solidFill>
                <a:latin typeface="Trebuchet MS" pitchFamily="34" charset="0"/>
                <a:ea typeface="Trebuchet MS" pitchFamily="34" charset="-122"/>
                <a:cs typeface="Trebuchet MS" pitchFamily="34" charset="-120"/>
              </a:rPr>
              <a:t>Word cards taped to the cones. Charlie the Fjord walked the line and stopped where he wanted. Whatever cone he picked, that was her word.</a:t>
            </a:r>
            <a:endParaRPr lang="en-US" sz="1200" dirty="0"/>
          </a:p>
          <a:p>
            <a:pPr marL="177800" indent="-177800">
              <a:spcAft>
                <a:spcPts val="800"/>
              </a:spcAft>
              <a:buSzPct val="100000"/>
              <a:buChar char="•"/>
            </a:pPr>
            <a:r>
              <a:rPr lang="en-US" sz="1200" dirty="0">
                <a:solidFill>
                  <a:srgbClr val="574838"/>
                </a:solidFill>
                <a:latin typeface="Trebuchet MS" pitchFamily="34" charset="0"/>
                <a:ea typeface="Trebuchet MS" pitchFamily="34" charset="-122"/>
                <a:cs typeface="Trebuchet MS" pitchFamily="34" charset="-120"/>
              </a:rPr>
              <a:t>Charlie read the short word out loud, then tapped the card with the Magic E wand I 3D printed. Pew. Tap turned into tape, kit turned into kite.</a:t>
            </a:r>
            <a:endParaRPr lang="en-US" sz="1200" dirty="0"/>
          </a:p>
          <a:p>
            <a:pPr marL="177800" indent="-177800">
              <a:buSzPct val="100000"/>
              <a:buChar char="•"/>
            </a:pPr>
            <a:r>
              <a:rPr lang="en-US" sz="1200" dirty="0">
                <a:solidFill>
                  <a:srgbClr val="574838"/>
                </a:solidFill>
                <a:latin typeface="Trebuchet MS" pitchFamily="34" charset="0"/>
                <a:ea typeface="Trebuchet MS" pitchFamily="34" charset="-122"/>
                <a:cs typeface="Trebuchet MS" pitchFamily="34" charset="-120"/>
              </a:rPr>
              <a:t>She started with no clue what the silent E does. Two cards later she was telling me: it goes quiet and the vowel says its name.</a:t>
            </a:r>
            <a:endParaRPr lang="en-US" sz="1200" dirty="0"/>
          </a:p>
        </p:txBody>
      </p:sp>
      <p:sp>
        <p:nvSpPr>
          <p:cNvPr id="7" name="Shape 4"/>
          <p:cNvSpPr/>
          <p:nvPr/>
        </p:nvSpPr>
        <p:spPr>
          <a:xfrm>
            <a:off x="548640" y="3749040"/>
            <a:ext cx="4663440" cy="777240"/>
          </a:xfrm>
          <a:prstGeom prst="rect">
            <a:avLst/>
          </a:prstGeom>
          <a:solidFill>
            <a:srgbClr val="FAF4EA"/>
          </a:solidFill>
          <a:ln/>
        </p:spPr>
      </p:sp>
      <p:sp>
        <p:nvSpPr>
          <p:cNvPr id="8" name="Shape 5"/>
          <p:cNvSpPr/>
          <p:nvPr/>
        </p:nvSpPr>
        <p:spPr>
          <a:xfrm>
            <a:off x="548640" y="3749040"/>
            <a:ext cx="50292" cy="777240"/>
          </a:xfrm>
          <a:prstGeom prst="rect">
            <a:avLst/>
          </a:prstGeom>
          <a:solidFill>
            <a:srgbClr val="D4A843"/>
          </a:solidFill>
          <a:ln/>
        </p:spPr>
      </p:sp>
      <p:sp>
        <p:nvSpPr>
          <p:cNvPr id="9" name="Text 6"/>
          <p:cNvSpPr/>
          <p:nvPr/>
        </p:nvSpPr>
        <p:spPr>
          <a:xfrm>
            <a:off x="749808" y="3803904"/>
            <a:ext cx="4343400" cy="685800"/>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CONCEPT</a:t>
            </a:r>
            <a:endParaRPr lang="en-US" sz="850" dirty="0"/>
          </a:p>
          <a:p>
            <a:pPr indent="0" marL="0">
              <a:buNone/>
            </a:pPr>
            <a:r>
              <a:rPr lang="en-US" sz="1150" b="1" dirty="0">
                <a:solidFill>
                  <a:srgbClr val="2C2520"/>
                </a:solidFill>
                <a:latin typeface="Trebuchet MS" pitchFamily="34" charset="0"/>
                <a:ea typeface="Trebuchet MS" pitchFamily="34" charset="-122"/>
                <a:cs typeface="Trebuchet MS" pitchFamily="34" charset="-120"/>
              </a:rPr>
              <a:t>Magic E is silent, but it makes the vowel say its name: tap becomes tape.</a:t>
            </a:r>
            <a:endParaRPr lang="en-US" sz="850" dirty="0"/>
          </a:p>
        </p:txBody>
      </p:sp>
      <p:pic>
        <p:nvPicPr>
          <p:cNvPr id="30" name="Session1 Photo 1" descr="session photo"/>
          <p:cNvPicPr>
            <a:picLocks noChangeAspect="1"/>
          </p:cNvPicPr>
          <p:nvPr/>
        </p:nvPicPr>
        <p:blipFill>
          <a:blip r:embed="rId2"/>
          <a:stretch>
            <a:fillRect/>
          </a:stretch>
        </p:blipFill>
        <p:spPr>
          <a:xfrm>
            <a:off x="5486400" y="960120"/>
            <a:ext cx="1527048" cy="1755648"/>
          </a:xfrm>
          <a:prstGeom prst="rect">
            <a:avLst/>
          </a:prstGeom>
        </p:spPr>
      </p:pic>
      <p:pic>
        <p:nvPicPr>
          <p:cNvPr id="31" name="Session1 Photo 2" descr="session photo"/>
          <p:cNvPicPr>
            <a:picLocks noChangeAspect="1"/>
          </p:cNvPicPr>
          <p:nvPr/>
        </p:nvPicPr>
        <p:blipFill>
          <a:blip r:embed="rId5"/>
          <a:stretch>
            <a:fillRect/>
          </a:stretch>
        </p:blipFill>
        <p:spPr>
          <a:xfrm>
            <a:off x="7068312" y="960120"/>
            <a:ext cx="1527048" cy="1755648"/>
          </a:xfrm>
          <a:prstGeom prst="rect">
            <a:avLst/>
          </a:prstGeom>
        </p:spPr>
      </p:pic>
      <p:pic>
        <p:nvPicPr>
          <p:cNvPr id="32" name="Session1 Photo 3" descr="session photo"/>
          <p:cNvPicPr>
            <a:picLocks noChangeAspect="1"/>
          </p:cNvPicPr>
          <p:nvPr/>
        </p:nvPicPr>
        <p:blipFill>
          <a:blip r:embed="rId6"/>
          <a:stretch>
            <a:fillRect/>
          </a:stretch>
        </p:blipFill>
        <p:spPr>
          <a:xfrm>
            <a:off x="5486400" y="2770632"/>
            <a:ext cx="1527048" cy="1755648"/>
          </a:xfrm>
          <a:prstGeom prst="rect">
            <a:avLst/>
          </a:prstGeom>
        </p:spPr>
      </p:pic>
      <p:pic>
        <p:nvPicPr>
          <p:cNvPr id="33" name="Session1 Photo 4" descr="session photo"/>
          <p:cNvPicPr>
            <a:picLocks noChangeAspect="1"/>
          </p:cNvPicPr>
          <p:nvPr/>
        </p:nvPicPr>
        <p:blipFill>
          <a:blip r:embed="rId7"/>
          <a:stretch>
            <a:fillRect/>
          </a:stretch>
        </p:blipFill>
        <p:spPr>
          <a:xfrm>
            <a:off x="7068312" y="2770632"/>
            <a:ext cx="1527048" cy="1755648"/>
          </a:xfrm>
          <a:prstGeom prst="rect">
            <a:avLst/>
          </a:prstGeom>
        </p:spPr>
      </p:pic>
      <p:sp>
        <p:nvSpPr>
          <p:cNvPr id="11" name="Shape 7"/>
          <p:cNvSpPr/>
          <p:nvPr/>
        </p:nvSpPr>
        <p:spPr>
          <a:xfrm>
            <a:off x="5486400" y="960120"/>
            <a:ext cx="3108960" cy="3566160"/>
          </a:xfrm>
          <a:prstGeom prst="rect">
            <a:avLst/>
          </a:prstGeom>
          <a:solidFill>
            <a:srgbClr val="D4A843">
              <a:alpha val="0"/>
            </a:srgbClr>
          </a:solidFill>
          <a:ln w="19050">
            <a:solidFill>
              <a:srgbClr val="D4A843"/>
            </a:solidFill>
            <a:prstDash val="solid"/>
          </a:ln>
        </p:spPr>
      </p:sp>
      <p:sp>
        <p:nvSpPr>
          <p:cNvPr id="12" name="Shape 8"/>
          <p:cNvSpPr/>
          <p:nvPr/>
        </p:nvSpPr>
        <p:spPr>
          <a:xfrm>
            <a:off x="548640" y="4828032"/>
            <a:ext cx="8046720" cy="0"/>
          </a:xfrm>
          <a:prstGeom prst="line">
            <a:avLst/>
          </a:prstGeom>
          <a:noFill/>
          <a:ln w="9525">
            <a:solidFill>
              <a:srgbClr val="E0D6C8"/>
            </a:solidFill>
            <a:prstDash val="solid"/>
          </a:ln>
        </p:spPr>
      </p:sp>
      <p:sp>
        <p:nvSpPr>
          <p:cNvPr id="13" name="Text 9"/>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4" name="Text 10"/>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 1  ·  REFLECTIONS</a:t>
            </a:r>
            <a:endParaRPr lang="en-US" sz="1000" dirty="0"/>
          </a:p>
        </p:txBody>
      </p:sp>
      <p:sp>
        <p:nvSpPr>
          <p:cNvPr id="5" name="Text 2"/>
          <p:cNvSpPr/>
          <p:nvPr/>
        </p:nvSpPr>
        <p:spPr>
          <a:xfrm>
            <a:off x="548640" y="841248"/>
            <a:ext cx="8046720" cy="45720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Session 1: What Stood Out</a:t>
            </a:r>
            <a:endParaRPr lang="en-US" sz="2400" dirty="0"/>
          </a:p>
        </p:txBody>
      </p:sp>
      <p:sp>
        <p:nvSpPr>
          <p:cNvPr id="6" name="Shape 3"/>
          <p:cNvSpPr/>
          <p:nvPr/>
        </p:nvSpPr>
        <p:spPr>
          <a:xfrm>
            <a:off x="548640" y="1463040"/>
            <a:ext cx="8046720" cy="914400"/>
          </a:xfrm>
          <a:prstGeom prst="rect">
            <a:avLst/>
          </a:prstGeom>
          <a:solidFill>
            <a:srgbClr val="FAF4EA"/>
          </a:solidFill>
          <a:ln/>
        </p:spPr>
      </p:sp>
      <p:sp>
        <p:nvSpPr>
          <p:cNvPr id="7" name="Shape 4"/>
          <p:cNvSpPr/>
          <p:nvPr/>
        </p:nvSpPr>
        <p:spPr>
          <a:xfrm>
            <a:off x="548640" y="1463040"/>
            <a:ext cx="50292" cy="914400"/>
          </a:xfrm>
          <a:prstGeom prst="rect">
            <a:avLst/>
          </a:prstGeom>
          <a:solidFill>
            <a:srgbClr val="D4A843"/>
          </a:solidFill>
          <a:ln/>
        </p:spPr>
      </p:sp>
      <p:sp>
        <p:nvSpPr>
          <p:cNvPr id="8" name="Text 5"/>
          <p:cNvSpPr/>
          <p:nvPr/>
        </p:nvSpPr>
        <p:spPr>
          <a:xfrm>
            <a:off x="777240" y="1536192"/>
            <a:ext cx="7635240" cy="786384"/>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AH-HA MOMENT</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I asked what the Magic E does and got a flat no. Two cards later she was telling me: the E goes silent and the vowel says its name. Kit became kite, and she read it like she owned it.</a:t>
            </a:r>
            <a:endParaRPr lang="en-US" sz="850" dirty="0"/>
          </a:p>
        </p:txBody>
      </p:sp>
      <p:sp>
        <p:nvSpPr>
          <p:cNvPr id="9" name="Shape 6"/>
          <p:cNvSpPr/>
          <p:nvPr/>
        </p:nvSpPr>
        <p:spPr>
          <a:xfrm>
            <a:off x="548640" y="2514600"/>
            <a:ext cx="8046720" cy="914400"/>
          </a:xfrm>
          <a:prstGeom prst="rect">
            <a:avLst/>
          </a:prstGeom>
          <a:solidFill>
            <a:srgbClr val="EEF7F5"/>
          </a:solidFill>
          <a:ln/>
        </p:spPr>
      </p:sp>
      <p:sp>
        <p:nvSpPr>
          <p:cNvPr id="10" name="Shape 7"/>
          <p:cNvSpPr/>
          <p:nvPr/>
        </p:nvSpPr>
        <p:spPr>
          <a:xfrm>
            <a:off x="548640" y="2514600"/>
            <a:ext cx="50292" cy="914400"/>
          </a:xfrm>
          <a:prstGeom prst="rect">
            <a:avLst/>
          </a:prstGeom>
          <a:solidFill>
            <a:srgbClr val="1A7A6B"/>
          </a:solidFill>
          <a:ln/>
        </p:spPr>
      </p:sp>
      <p:sp>
        <p:nvSpPr>
          <p:cNvPr id="11" name="Text 8"/>
          <p:cNvSpPr/>
          <p:nvPr/>
        </p:nvSpPr>
        <p:spPr>
          <a:xfrm>
            <a:off x="777240" y="2587752"/>
            <a:ext cx="7635240" cy="786384"/>
          </a:xfrm>
          <a:prstGeom prst="rect">
            <a:avLst/>
          </a:prstGeom>
          <a:noFill/>
          <a:ln/>
        </p:spPr>
        <p:txBody>
          <a:bodyPr wrap="square" lIns="0" tIns="0" rIns="0" bIns="0" rtlCol="0" anchor="ctr"/>
          <a:lstStyle/>
          <a:p>
            <a:pPr indent="0" marL="0">
              <a:buNone/>
            </a:pPr>
            <a:r>
              <a:rPr lang="en-US" sz="850" b="1" spc="200" kern="0" dirty="0">
                <a:solidFill>
                  <a:srgbClr val="1A7A6B"/>
                </a:solidFill>
                <a:latin typeface="Trebuchet MS" pitchFamily="34" charset="0"/>
                <a:ea typeface="Trebuchet MS" pitchFamily="34" charset="-122"/>
                <a:cs typeface="Trebuchet MS" pitchFamily="34" charset="-120"/>
              </a:rPr>
              <a:t>WHAT I LEARNED</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Let the pony deal the cards. When Charlie the Fjord stopped and chose the next word, the drill became his game and she wanted a turn in it. My job was one question at a time, then wait.</a:t>
            </a:r>
            <a:endParaRPr lang="en-US" sz="850" dirty="0"/>
          </a:p>
        </p:txBody>
      </p:sp>
      <p:sp>
        <p:nvSpPr>
          <p:cNvPr id="12" name="Shape 9"/>
          <p:cNvSpPr/>
          <p:nvPr/>
        </p:nvSpPr>
        <p:spPr>
          <a:xfrm>
            <a:off x="548640" y="3566160"/>
            <a:ext cx="8046720" cy="914400"/>
          </a:xfrm>
          <a:prstGeom prst="rect">
            <a:avLst/>
          </a:prstGeom>
          <a:solidFill>
            <a:srgbClr val="FAF4EA"/>
          </a:solidFill>
          <a:ln/>
        </p:spPr>
      </p:sp>
      <p:sp>
        <p:nvSpPr>
          <p:cNvPr id="13" name="Shape 10"/>
          <p:cNvSpPr/>
          <p:nvPr/>
        </p:nvSpPr>
        <p:spPr>
          <a:xfrm>
            <a:off x="548640" y="3566160"/>
            <a:ext cx="50292" cy="914400"/>
          </a:xfrm>
          <a:prstGeom prst="rect">
            <a:avLst/>
          </a:prstGeom>
          <a:solidFill>
            <a:srgbClr val="D4A843"/>
          </a:solidFill>
          <a:ln/>
        </p:spPr>
      </p:sp>
      <p:sp>
        <p:nvSpPr>
          <p:cNvPr id="14" name="Text 11"/>
          <p:cNvSpPr/>
          <p:nvPr/>
        </p:nvSpPr>
        <p:spPr>
          <a:xfrm>
            <a:off x="777240" y="3639312"/>
            <a:ext cx="7635240" cy="786384"/>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HORSE'S PART</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He stood dead quiet while she worked out K, I, T with his lead in one hand and the wand in the other. I told her you can hold it, he will stay. He did. That gave her the time to finish the word.</a:t>
            </a:r>
            <a:endParaRPr lang="en-US" sz="850" dirty="0"/>
          </a:p>
        </p:txBody>
      </p:sp>
      <p:sp>
        <p:nvSpPr>
          <p:cNvPr id="15" name="Shape 12"/>
          <p:cNvSpPr/>
          <p:nvPr/>
        </p:nvSpPr>
        <p:spPr>
          <a:xfrm>
            <a:off x="548640" y="4828032"/>
            <a:ext cx="8046720" cy="0"/>
          </a:xfrm>
          <a:prstGeom prst="line">
            <a:avLst/>
          </a:prstGeom>
          <a:noFill/>
          <a:ln w="9525">
            <a:solidFill>
              <a:srgbClr val="E0D6C8"/>
            </a:solidFill>
            <a:prstDash val="solid"/>
          </a:ln>
        </p:spPr>
      </p:sp>
      <p:sp>
        <p:nvSpPr>
          <p:cNvPr id="16" name="Text 13"/>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7" name="Text 14"/>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 2  ·  WHAT WE DID</a:t>
            </a:r>
            <a:endParaRPr lang="en-US" sz="1000" dirty="0"/>
          </a:p>
        </p:txBody>
      </p:sp>
      <p:sp>
        <p:nvSpPr>
          <p:cNvPr id="5" name="Text 2"/>
          <p:cNvSpPr/>
          <p:nvPr/>
        </p:nvSpPr>
        <p:spPr>
          <a:xfrm>
            <a:off x="548640" y="841248"/>
            <a:ext cx="4846320" cy="502920"/>
          </a:xfrm>
          <a:prstGeom prst="rect">
            <a:avLst/>
          </a:prstGeom>
          <a:noFill/>
          <a:ln/>
        </p:spPr>
        <p:txBody>
          <a:bodyPr wrap="square" lIns="0" tIns="0" rIns="0" bIns="0" rtlCol="0" anchor="ctr"/>
          <a:lstStyle/>
          <a:p>
            <a:pPr indent="0" marL="0">
              <a:buNone/>
            </a:pPr>
            <a:r>
              <a:rPr lang="en-US" sz="1900" dirty="0">
                <a:solidFill>
                  <a:srgbClr val="2C2520"/>
                </a:solidFill>
                <a:latin typeface="Georgia" pitchFamily="34" charset="0"/>
                <a:ea typeface="Georgia" pitchFamily="34" charset="-122"/>
                <a:cs typeface="Georgia" pitchFamily="34" charset="-120"/>
              </a:rPr>
              <a:t>Session 2: Pony Express Mailbox</a:t>
            </a:r>
            <a:endParaRPr lang="en-US" sz="1900" dirty="0"/>
          </a:p>
        </p:txBody>
      </p:sp>
      <p:sp>
        <p:nvSpPr>
          <p:cNvPr id="6" name="Text 3"/>
          <p:cNvSpPr/>
          <p:nvPr/>
        </p:nvSpPr>
        <p:spPr>
          <a:xfrm>
            <a:off x="548640" y="1508760"/>
            <a:ext cx="4663440" cy="210312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574838"/>
                </a:solidFill>
                <a:latin typeface="Trebuchet MS" pitchFamily="34" charset="0"/>
                <a:ea typeface="Trebuchet MS" pitchFamily="34" charset="-122"/>
                <a:cs typeface="Trebuchet MS" pitchFamily="34" charset="-120"/>
              </a:rPr>
              <a:t>I wrote a big W on the mailbox and set it on the trailer fender with a stack of 3D printed phonogram discs: ash, ay, ame, oke, ow.</a:t>
            </a:r>
            <a:endParaRPr lang="en-US" sz="1200" dirty="0"/>
          </a:p>
          <a:p>
            <a:pPr marL="177800" indent="-177800">
              <a:spcAft>
                <a:spcPts val="800"/>
              </a:spcAft>
              <a:buSzPct val="100000"/>
              <a:buChar char="•"/>
            </a:pPr>
            <a:r>
              <a:rPr lang="en-US" sz="1200" dirty="0">
                <a:solidFill>
                  <a:srgbClr val="574838"/>
                </a:solidFill>
                <a:latin typeface="Trebuchet MS" pitchFamily="34" charset="0"/>
                <a:ea typeface="Trebuchet MS" pitchFamily="34" charset="-122"/>
                <a:cs typeface="Trebuchet MS" pitchFamily="34" charset="-120"/>
              </a:rPr>
              <a:t>Charlie held each disc up to the letter and sounded out the pair. Real words like wash and way went in the mailbox. Sillies like wame got tossed, with giggles.</a:t>
            </a:r>
            <a:endParaRPr lang="en-US" sz="1200" dirty="0"/>
          </a:p>
          <a:p>
            <a:pPr marL="177800" indent="-177800">
              <a:buSzPct val="100000"/>
              <a:buChar char="•"/>
            </a:pPr>
            <a:r>
              <a:rPr lang="en-US" sz="1200" dirty="0">
                <a:solidFill>
                  <a:srgbClr val="574838"/>
                </a:solidFill>
                <a:latin typeface="Trebuchet MS" pitchFamily="34" charset="0"/>
                <a:ea typeface="Trebuchet MS" pitchFamily="34" charset="-122"/>
                <a:cs typeface="Trebuchet MS" pitchFamily="34" charset="-120"/>
              </a:rPr>
              <a:t>Every disc she got in the mailbox earned a point. One read as nonsense until she flipped it and found wow. She counted her points to the end.</a:t>
            </a:r>
            <a:endParaRPr lang="en-US" sz="1200" dirty="0"/>
          </a:p>
        </p:txBody>
      </p:sp>
      <p:sp>
        <p:nvSpPr>
          <p:cNvPr id="7" name="Shape 4"/>
          <p:cNvSpPr/>
          <p:nvPr/>
        </p:nvSpPr>
        <p:spPr>
          <a:xfrm>
            <a:off x="548640" y="3749040"/>
            <a:ext cx="4663440" cy="777240"/>
          </a:xfrm>
          <a:prstGeom prst="rect">
            <a:avLst/>
          </a:prstGeom>
          <a:solidFill>
            <a:srgbClr val="EEF7F5"/>
          </a:solidFill>
          <a:ln/>
        </p:spPr>
      </p:sp>
      <p:sp>
        <p:nvSpPr>
          <p:cNvPr id="8" name="Shape 5"/>
          <p:cNvSpPr/>
          <p:nvPr/>
        </p:nvSpPr>
        <p:spPr>
          <a:xfrm>
            <a:off x="548640" y="3749040"/>
            <a:ext cx="50292" cy="777240"/>
          </a:xfrm>
          <a:prstGeom prst="rect">
            <a:avLst/>
          </a:prstGeom>
          <a:solidFill>
            <a:srgbClr val="1A7A6B"/>
          </a:solidFill>
          <a:ln/>
        </p:spPr>
      </p:sp>
      <p:sp>
        <p:nvSpPr>
          <p:cNvPr id="9" name="Text 6"/>
          <p:cNvSpPr/>
          <p:nvPr/>
        </p:nvSpPr>
        <p:spPr>
          <a:xfrm>
            <a:off x="749808" y="3803904"/>
            <a:ext cx="4343400" cy="685800"/>
          </a:xfrm>
          <a:prstGeom prst="rect">
            <a:avLst/>
          </a:prstGeom>
          <a:noFill/>
          <a:ln/>
        </p:spPr>
        <p:txBody>
          <a:bodyPr wrap="square" lIns="0" tIns="0" rIns="0" bIns="0" rtlCol="0" anchor="ctr"/>
          <a:lstStyle/>
          <a:p>
            <a:pPr indent="0" marL="0">
              <a:buNone/>
            </a:pPr>
            <a:r>
              <a:rPr lang="en-US" sz="850" b="1" spc="200" kern="0" dirty="0">
                <a:solidFill>
                  <a:srgbClr val="1A7A6B"/>
                </a:solidFill>
                <a:latin typeface="Trebuchet MS" pitchFamily="34" charset="0"/>
                <a:ea typeface="Trebuchet MS" pitchFamily="34" charset="-122"/>
                <a:cs typeface="Trebuchet MS" pitchFamily="34" charset="-120"/>
              </a:rPr>
              <a:t>THE CONCEPT</a:t>
            </a:r>
            <a:endParaRPr lang="en-US" sz="850" dirty="0"/>
          </a:p>
          <a:p>
            <a:pPr indent="0" marL="0">
              <a:buNone/>
            </a:pPr>
            <a:r>
              <a:rPr lang="en-US" sz="1150" b="1" dirty="0">
                <a:solidFill>
                  <a:srgbClr val="2C2520"/>
                </a:solidFill>
                <a:latin typeface="Trebuchet MS" pitchFamily="34" charset="0"/>
                <a:ea typeface="Trebuchet MS" pitchFamily="34" charset="-122"/>
                <a:cs typeface="Trebuchet MS" pitchFamily="34" charset="-120"/>
              </a:rPr>
              <a:t>One letter plus the right disc builds a real word: W + ash = wash.</a:t>
            </a:r>
            <a:endParaRPr lang="en-US" sz="850" dirty="0"/>
          </a:p>
        </p:txBody>
      </p:sp>
      <p:pic>
        <p:nvPicPr>
          <p:cNvPr id="10" name="Image 1" descr="/tmp/claude-0/-home-user-tribal-cowboy-webhook/9ba9e801-9603-5165-907c-67d024c96ac6/scratchpad/session2-photo-small.jpg">    </p:cNvPr>
          <p:cNvPicPr>
            <a:picLocks noChangeAspect="1"/>
          </p:cNvPicPr>
          <p:nvPr/>
        </p:nvPicPr>
        <p:blipFill>
          <a:blip r:embed="rId2"/>
          <a:srcRect l="0" r="0" t="0" b="0"/>
          <a:stretch/>
        </p:blipFill>
        <p:spPr>
          <a:xfrm>
            <a:off x="5486400" y="960120"/>
            <a:ext cx="3108960" cy="3566160"/>
          </a:xfrm>
          <a:prstGeom prst="rect">
            <a:avLst/>
          </a:prstGeom>
        </p:spPr>
      </p:pic>
      <p:sp>
        <p:nvSpPr>
          <p:cNvPr id="11" name="Shape 7"/>
          <p:cNvSpPr/>
          <p:nvPr/>
        </p:nvSpPr>
        <p:spPr>
          <a:xfrm>
            <a:off x="5486400" y="960120"/>
            <a:ext cx="3108960" cy="3566160"/>
          </a:xfrm>
          <a:prstGeom prst="rect">
            <a:avLst/>
          </a:prstGeom>
          <a:solidFill>
            <a:srgbClr val="D4A843">
              <a:alpha val="0"/>
            </a:srgbClr>
          </a:solidFill>
          <a:ln w="19050">
            <a:solidFill>
              <a:srgbClr val="D4A843"/>
            </a:solidFill>
            <a:prstDash val="solid"/>
          </a:ln>
        </p:spPr>
      </p:sp>
      <p:sp>
        <p:nvSpPr>
          <p:cNvPr id="12" name="Shape 8"/>
          <p:cNvSpPr/>
          <p:nvPr/>
        </p:nvSpPr>
        <p:spPr>
          <a:xfrm>
            <a:off x="548640" y="4828032"/>
            <a:ext cx="8046720" cy="0"/>
          </a:xfrm>
          <a:prstGeom prst="line">
            <a:avLst/>
          </a:prstGeom>
          <a:noFill/>
          <a:ln w="9525">
            <a:solidFill>
              <a:srgbClr val="E0D6C8"/>
            </a:solidFill>
            <a:prstDash val="solid"/>
          </a:ln>
        </p:spPr>
      </p:sp>
      <p:sp>
        <p:nvSpPr>
          <p:cNvPr id="13" name="Text 9"/>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4" name="Text 10"/>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SESSION 2  ·  REFLECTIONS</a:t>
            </a:r>
            <a:endParaRPr lang="en-US" sz="1000" dirty="0"/>
          </a:p>
        </p:txBody>
      </p:sp>
      <p:sp>
        <p:nvSpPr>
          <p:cNvPr id="5" name="Text 2"/>
          <p:cNvSpPr/>
          <p:nvPr/>
        </p:nvSpPr>
        <p:spPr>
          <a:xfrm>
            <a:off x="548640" y="841248"/>
            <a:ext cx="8046720" cy="45720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Session 2: What Stood Out</a:t>
            </a:r>
            <a:endParaRPr lang="en-US" sz="2400" dirty="0"/>
          </a:p>
        </p:txBody>
      </p:sp>
      <p:sp>
        <p:nvSpPr>
          <p:cNvPr id="6" name="Shape 3"/>
          <p:cNvSpPr/>
          <p:nvPr/>
        </p:nvSpPr>
        <p:spPr>
          <a:xfrm>
            <a:off x="548640" y="1463040"/>
            <a:ext cx="8046720" cy="914400"/>
          </a:xfrm>
          <a:prstGeom prst="rect">
            <a:avLst/>
          </a:prstGeom>
          <a:solidFill>
            <a:srgbClr val="FAF4EA"/>
          </a:solidFill>
          <a:ln/>
        </p:spPr>
      </p:sp>
      <p:sp>
        <p:nvSpPr>
          <p:cNvPr id="7" name="Shape 4"/>
          <p:cNvSpPr/>
          <p:nvPr/>
        </p:nvSpPr>
        <p:spPr>
          <a:xfrm>
            <a:off x="548640" y="1463040"/>
            <a:ext cx="50292" cy="914400"/>
          </a:xfrm>
          <a:prstGeom prst="rect">
            <a:avLst/>
          </a:prstGeom>
          <a:solidFill>
            <a:srgbClr val="D4A843"/>
          </a:solidFill>
          <a:ln/>
        </p:spPr>
      </p:sp>
      <p:sp>
        <p:nvSpPr>
          <p:cNvPr id="8" name="Text 5"/>
          <p:cNvSpPr/>
          <p:nvPr/>
        </p:nvSpPr>
        <p:spPr>
          <a:xfrm>
            <a:off x="777240" y="1536192"/>
            <a:ext cx="7635240" cy="786384"/>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AH-HA MOMENT</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The upside down disc. She read woo, frowned, got one hint, flipped it, and got wow. Then said it four more times because she earned it.</a:t>
            </a:r>
            <a:endParaRPr lang="en-US" sz="850" dirty="0"/>
          </a:p>
        </p:txBody>
      </p:sp>
      <p:sp>
        <p:nvSpPr>
          <p:cNvPr id="9" name="Shape 6"/>
          <p:cNvSpPr/>
          <p:nvPr/>
        </p:nvSpPr>
        <p:spPr>
          <a:xfrm>
            <a:off x="548640" y="2514600"/>
            <a:ext cx="8046720" cy="914400"/>
          </a:xfrm>
          <a:prstGeom prst="rect">
            <a:avLst/>
          </a:prstGeom>
          <a:solidFill>
            <a:srgbClr val="EEF7F5"/>
          </a:solidFill>
          <a:ln/>
        </p:spPr>
      </p:sp>
      <p:sp>
        <p:nvSpPr>
          <p:cNvPr id="10" name="Shape 7"/>
          <p:cNvSpPr/>
          <p:nvPr/>
        </p:nvSpPr>
        <p:spPr>
          <a:xfrm>
            <a:off x="548640" y="2514600"/>
            <a:ext cx="50292" cy="914400"/>
          </a:xfrm>
          <a:prstGeom prst="rect">
            <a:avLst/>
          </a:prstGeom>
          <a:solidFill>
            <a:srgbClr val="1A7A6B"/>
          </a:solidFill>
          <a:ln/>
        </p:spPr>
      </p:sp>
      <p:sp>
        <p:nvSpPr>
          <p:cNvPr id="11" name="Text 8"/>
          <p:cNvSpPr/>
          <p:nvPr/>
        </p:nvSpPr>
        <p:spPr>
          <a:xfrm>
            <a:off x="777240" y="2587752"/>
            <a:ext cx="7635240" cy="786384"/>
          </a:xfrm>
          <a:prstGeom prst="rect">
            <a:avLst/>
          </a:prstGeom>
          <a:noFill/>
          <a:ln/>
        </p:spPr>
        <p:txBody>
          <a:bodyPr wrap="square" lIns="0" tIns="0" rIns="0" bIns="0" rtlCol="0" anchor="ctr"/>
          <a:lstStyle/>
          <a:p>
            <a:pPr indent="0" marL="0">
              <a:buNone/>
            </a:pPr>
            <a:r>
              <a:rPr lang="en-US" sz="850" b="1" spc="200" kern="0" dirty="0">
                <a:solidFill>
                  <a:srgbClr val="1A7A6B"/>
                </a:solidFill>
                <a:latin typeface="Trebuchet MS" pitchFamily="34" charset="0"/>
                <a:ea typeface="Trebuchet MS" pitchFamily="34" charset="-122"/>
                <a:cs typeface="Trebuchet MS" pitchFamily="34" charset="-120"/>
              </a:rPr>
              <a:t>WHAT I LEARNED</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The no answers teach as much as the yes answers. Sounding out wame and ruling it not a word works the same muscle as reading wash. Points turned real versus silly into a game instead of a test.</a:t>
            </a:r>
            <a:endParaRPr lang="en-US" sz="850" dirty="0"/>
          </a:p>
        </p:txBody>
      </p:sp>
      <p:sp>
        <p:nvSpPr>
          <p:cNvPr id="12" name="Shape 9"/>
          <p:cNvSpPr/>
          <p:nvPr/>
        </p:nvSpPr>
        <p:spPr>
          <a:xfrm>
            <a:off x="548640" y="3566160"/>
            <a:ext cx="8046720" cy="914400"/>
          </a:xfrm>
          <a:prstGeom prst="rect">
            <a:avLst/>
          </a:prstGeom>
          <a:solidFill>
            <a:srgbClr val="FAF4EA"/>
          </a:solidFill>
          <a:ln/>
        </p:spPr>
      </p:sp>
      <p:sp>
        <p:nvSpPr>
          <p:cNvPr id="13" name="Shape 10"/>
          <p:cNvSpPr/>
          <p:nvPr/>
        </p:nvSpPr>
        <p:spPr>
          <a:xfrm>
            <a:off x="548640" y="3566160"/>
            <a:ext cx="50292" cy="914400"/>
          </a:xfrm>
          <a:prstGeom prst="rect">
            <a:avLst/>
          </a:prstGeom>
          <a:solidFill>
            <a:srgbClr val="D4A843"/>
          </a:solidFill>
          <a:ln/>
        </p:spPr>
      </p:sp>
      <p:sp>
        <p:nvSpPr>
          <p:cNvPr id="14" name="Text 11"/>
          <p:cNvSpPr/>
          <p:nvPr/>
        </p:nvSpPr>
        <p:spPr>
          <a:xfrm>
            <a:off x="777240" y="3639312"/>
            <a:ext cx="7635240" cy="786384"/>
          </a:xfrm>
          <a:prstGeom prst="rect">
            <a:avLst/>
          </a:prstGeom>
          <a:noFill/>
          <a:ln/>
        </p:spPr>
        <p:txBody>
          <a:bodyPr wrap="square" lIns="0" tIns="0" rIns="0" bIns="0" rtlCol="0" anchor="ctr"/>
          <a:lstStyle/>
          <a:p>
            <a:pPr indent="0" marL="0">
              <a:buNone/>
            </a:pPr>
            <a:r>
              <a:rPr lang="en-US" sz="850" b="1" spc="200" kern="0" dirty="0">
                <a:solidFill>
                  <a:srgbClr val="9A7A2A"/>
                </a:solidFill>
                <a:latin typeface="Trebuchet MS" pitchFamily="34" charset="0"/>
                <a:ea typeface="Trebuchet MS" pitchFamily="34" charset="-122"/>
                <a:cs typeface="Trebuchet MS" pitchFamily="34" charset="-120"/>
              </a:rPr>
              <a:t>THE HORSE'S PART</a:t>
            </a:r>
            <a:endParaRPr lang="en-US" sz="850" dirty="0"/>
          </a:p>
          <a:p>
            <a:pPr indent="0" marL="0">
              <a:buNone/>
            </a:pPr>
            <a:r>
              <a:rPr lang="en-US" sz="400" dirty="0">
                <a:solidFill>
                  <a:srgbClr val="000000"/>
                </a:solidFill>
              </a:rPr>
              <a:t> </a:t>
            </a:r>
            <a:endParaRPr lang="en-US" sz="850" dirty="0"/>
          </a:p>
          <a:p>
            <a:pPr indent="0" marL="0">
              <a:buNone/>
            </a:pPr>
            <a:r>
              <a:rPr lang="en-US" sz="1200" dirty="0">
                <a:solidFill>
                  <a:srgbClr val="2C2520"/>
                </a:solidFill>
                <a:latin typeface="Trebuchet MS" pitchFamily="34" charset="0"/>
                <a:ea typeface="Trebuchet MS" pitchFamily="34" charset="-122"/>
                <a:cs typeface="Trebuchet MS" pitchFamily="34" charset="-120"/>
              </a:rPr>
              <a:t>His work came first. The session with Charlie the Fjord built the calm she carried straight to the mailbox, halters at her feet and the trailer fender for a desk.</a:t>
            </a:r>
            <a:endParaRPr lang="en-US" sz="850" dirty="0"/>
          </a:p>
        </p:txBody>
      </p:sp>
      <p:sp>
        <p:nvSpPr>
          <p:cNvPr id="15" name="Shape 12"/>
          <p:cNvSpPr/>
          <p:nvPr/>
        </p:nvSpPr>
        <p:spPr>
          <a:xfrm>
            <a:off x="548640" y="4828032"/>
            <a:ext cx="8046720" cy="0"/>
          </a:xfrm>
          <a:prstGeom prst="line">
            <a:avLst/>
          </a:prstGeom>
          <a:noFill/>
          <a:ln w="9525">
            <a:solidFill>
              <a:srgbClr val="E0D6C8"/>
            </a:solidFill>
            <a:prstDash val="solid"/>
          </a:ln>
        </p:spPr>
      </p:sp>
      <p:sp>
        <p:nvSpPr>
          <p:cNvPr id="16" name="Text 13"/>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7" name="Text 14"/>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C2520"/>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4A843"/>
          </a:solidFill>
          <a:ln/>
        </p:spPr>
      </p:sp>
      <p:sp>
        <p:nvSpPr>
          <p:cNvPr id="3" name="Shape 1"/>
          <p:cNvSpPr/>
          <p:nvPr/>
        </p:nvSpPr>
        <p:spPr>
          <a:xfrm>
            <a:off x="0" y="5088636"/>
            <a:ext cx="9144000" cy="54864"/>
          </a:xfrm>
          <a:prstGeom prst="rect">
            <a:avLst/>
          </a:prstGeom>
          <a:solidFill>
            <a:srgbClr val="D4A843"/>
          </a:solidFill>
          <a:ln/>
        </p:spPr>
      </p:sp>
      <p:sp>
        <p:nvSpPr>
          <p:cNvPr id="4" name="Text 2"/>
          <p:cNvSpPr/>
          <p:nvPr/>
        </p:nvSpPr>
        <p:spPr>
          <a:xfrm>
            <a:off x="914400" y="640080"/>
            <a:ext cx="7315200" cy="320040"/>
          </a:xfrm>
          <a:prstGeom prst="rect">
            <a:avLst/>
          </a:prstGeom>
          <a:noFill/>
          <a:ln/>
        </p:spPr>
        <p:txBody>
          <a:bodyPr wrap="square" lIns="0" tIns="0" rIns="0" bIns="0" rtlCol="0" anchor="ctr"/>
          <a:lstStyle/>
          <a:p>
            <a:pPr algn="ctr" indent="0" marL="0">
              <a:buNone/>
            </a:pPr>
            <a:r>
              <a:rPr lang="en-US" sz="1100" b="1" spc="400" kern="0" dirty="0">
                <a:solidFill>
                  <a:srgbClr val="D4A843"/>
                </a:solidFill>
                <a:latin typeface="Trebuchet MS" pitchFamily="34" charset="0"/>
                <a:ea typeface="Trebuchet MS" pitchFamily="34" charset="-122"/>
                <a:cs typeface="Trebuchet MS" pitchFamily="34" charset="-120"/>
              </a:rPr>
              <a:t>ONE METAPHOR FROM THE ARENA</a:t>
            </a:r>
            <a:endParaRPr lang="en-US" sz="1100" dirty="0"/>
          </a:p>
        </p:txBody>
      </p:sp>
      <p:sp>
        <p:nvSpPr>
          <p:cNvPr id="5" name="Text 3"/>
          <p:cNvSpPr/>
          <p:nvPr/>
        </p:nvSpPr>
        <p:spPr>
          <a:xfrm>
            <a:off x="822960" y="914400"/>
            <a:ext cx="1097280" cy="1097280"/>
          </a:xfrm>
          <a:prstGeom prst="rect">
            <a:avLst/>
          </a:prstGeom>
          <a:noFill/>
          <a:ln/>
        </p:spPr>
        <p:txBody>
          <a:bodyPr wrap="square" lIns="0" tIns="0" rIns="0" bIns="0" rtlCol="0" anchor="ctr"/>
          <a:lstStyle/>
          <a:p>
            <a:pPr indent="0" marL="0">
              <a:buNone/>
            </a:pPr>
            <a:r>
              <a:rPr lang="en-US" sz="7200" dirty="0">
                <a:solidFill>
                  <a:srgbClr val="D4A843"/>
                </a:solidFill>
                <a:latin typeface="Georgia" pitchFamily="34" charset="0"/>
                <a:ea typeface="Georgia" pitchFamily="34" charset="-122"/>
                <a:cs typeface="Georgia" pitchFamily="34" charset="-120"/>
              </a:rPr>
              <a:t>“</a:t>
            </a:r>
            <a:endParaRPr lang="en-US" sz="7200" dirty="0"/>
          </a:p>
        </p:txBody>
      </p:sp>
      <p:sp>
        <p:nvSpPr>
          <p:cNvPr id="6" name="Text 4"/>
          <p:cNvSpPr/>
          <p:nvPr/>
        </p:nvSpPr>
        <p:spPr>
          <a:xfrm>
            <a:off x="1280160" y="1554480"/>
            <a:ext cx="6583680" cy="1554480"/>
          </a:xfrm>
          <a:prstGeom prst="rect">
            <a:avLst/>
          </a:prstGeom>
          <a:noFill/>
          <a:ln/>
        </p:spPr>
        <p:txBody>
          <a:bodyPr wrap="square" lIns="0" tIns="0" rIns="0" bIns="0" rtlCol="0" anchor="ctr"/>
          <a:lstStyle/>
          <a:p>
            <a:pPr algn="ctr" indent="0" marL="0">
              <a:buNone/>
            </a:pPr>
            <a:r>
              <a:rPr lang="en-US" sz="2000" i="1" dirty="0">
                <a:solidFill>
                  <a:srgbClr val="F3EDE3"/>
                </a:solidFill>
                <a:latin typeface="Georgia" pitchFamily="34" charset="0"/>
                <a:ea typeface="Georgia" pitchFamily="34" charset="-122"/>
                <a:cs typeface="Georgia" pitchFamily="34" charset="-120"/>
              </a:rPr>
              <a:t>She read the disc upside down and got nonsense. She turned it, and it said wow.</a:t>
            </a:r>
            <a:endParaRPr lang="en-US" sz="2000" dirty="0"/>
          </a:p>
        </p:txBody>
      </p:sp>
      <p:sp>
        <p:nvSpPr>
          <p:cNvPr id="7" name="Shape 5"/>
          <p:cNvSpPr/>
          <p:nvPr/>
        </p:nvSpPr>
        <p:spPr>
          <a:xfrm>
            <a:off x="4023360" y="3383280"/>
            <a:ext cx="1097280" cy="0"/>
          </a:xfrm>
          <a:prstGeom prst="line">
            <a:avLst/>
          </a:prstGeom>
          <a:noFill/>
          <a:ln w="19050">
            <a:solidFill>
              <a:srgbClr val="D4A843"/>
            </a:solidFill>
            <a:prstDash val="solid"/>
          </a:ln>
        </p:spPr>
      </p:sp>
      <p:sp>
        <p:nvSpPr>
          <p:cNvPr id="8" name="Text 6"/>
          <p:cNvSpPr/>
          <p:nvPr/>
        </p:nvSpPr>
        <p:spPr>
          <a:xfrm>
            <a:off x="1463040" y="3566160"/>
            <a:ext cx="6217920" cy="822960"/>
          </a:xfrm>
          <a:prstGeom prst="rect">
            <a:avLst/>
          </a:prstGeom>
          <a:noFill/>
          <a:ln/>
        </p:spPr>
        <p:txBody>
          <a:bodyPr wrap="square" lIns="0" tIns="0" rIns="0" bIns="0" rtlCol="0" anchor="ctr"/>
          <a:lstStyle/>
          <a:p>
            <a:pPr algn="ctr" indent="0" marL="0">
              <a:buNone/>
            </a:pPr>
            <a:r>
              <a:rPr lang="en-US" sz="1200" dirty="0">
                <a:solidFill>
                  <a:srgbClr val="C8A96E"/>
                </a:solidFill>
                <a:latin typeface="Trebuchet MS" pitchFamily="34" charset="0"/>
                <a:ea typeface="Trebuchet MS" pitchFamily="34" charset="-122"/>
                <a:cs typeface="Trebuchet MS" pitchFamily="34" charset="-120"/>
              </a:rPr>
              <a:t>That is a struggling reader in one disc. The letters were never wrong. She held the word the wrong way up, and nobody grabbed it out of her hands. My job, and the pony's, is to stand quiet and give her room to turn it.</a:t>
            </a:r>
            <a:endParaRPr lang="en-US" sz="1200" dirty="0"/>
          </a:p>
        </p:txBody>
      </p:sp>
      <p:sp>
        <p:nvSpPr>
          <p:cNvPr id="9" name="Text 7"/>
          <p:cNvSpPr/>
          <p:nvPr/>
        </p:nvSpPr>
        <p:spPr>
          <a:xfrm>
            <a:off x="548640" y="4709160"/>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0" name="Text 8"/>
          <p:cNvSpPr/>
          <p:nvPr/>
        </p:nvSpPr>
        <p:spPr>
          <a:xfrm>
            <a:off x="5852160" y="4709160"/>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DE3"/>
        </a:solidFill>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2C2520"/>
          </a:solidFill>
          <a:ln/>
        </p:spPr>
      </p:sp>
      <p:pic>
        <p:nvPicPr>
          <p:cNvPr id="3" name="Image 0" descr="preencoded.png">    </p:cNvPr>
          <p:cNvPicPr>
            <a:picLocks noChangeAspect="1"/>
          </p:cNvPicPr>
          <p:nvPr/>
        </p:nvPicPr>
        <p:blipFill>
          <a:blip r:embed="rId1"/>
          <a:stretch>
            <a:fillRect/>
          </a:stretch>
        </p:blipFill>
        <p:spPr>
          <a:xfrm>
            <a:off x="201168" y="54864"/>
            <a:ext cx="548640" cy="548640"/>
          </a:xfrm>
          <a:prstGeom prst="rect">
            <a:avLst/>
          </a:prstGeom>
        </p:spPr>
      </p:pic>
      <p:sp>
        <p:nvSpPr>
          <p:cNvPr id="4" name="Text 1"/>
          <p:cNvSpPr/>
          <p:nvPr/>
        </p:nvSpPr>
        <p:spPr>
          <a:xfrm>
            <a:off x="4754880" y="0"/>
            <a:ext cx="4160520" cy="658368"/>
          </a:xfrm>
          <a:prstGeom prst="rect">
            <a:avLst/>
          </a:prstGeom>
          <a:noFill/>
          <a:ln/>
        </p:spPr>
        <p:txBody>
          <a:bodyPr wrap="square" lIns="0" tIns="0" rIns="0" bIns="0" rtlCol="0" anchor="ctr"/>
          <a:lstStyle/>
          <a:p>
            <a:pPr algn="r" indent="0" marL="0">
              <a:buNone/>
            </a:pPr>
            <a:r>
              <a:rPr lang="en-US" sz="1000" b="1" spc="300" kern="0" dirty="0">
                <a:solidFill>
                  <a:srgbClr val="D4A843"/>
                </a:solidFill>
                <a:latin typeface="Trebuchet MS" pitchFamily="34" charset="0"/>
                <a:ea typeface="Trebuchet MS" pitchFamily="34" charset="-122"/>
                <a:cs typeface="Trebuchet MS" pitchFamily="34" charset="-120"/>
              </a:rPr>
              <a:t>GLOW &amp; GROW</a:t>
            </a:r>
            <a:endParaRPr lang="en-US" sz="1000" dirty="0"/>
          </a:p>
        </p:txBody>
      </p:sp>
      <p:sp>
        <p:nvSpPr>
          <p:cNvPr id="5" name="Text 2"/>
          <p:cNvSpPr/>
          <p:nvPr/>
        </p:nvSpPr>
        <p:spPr>
          <a:xfrm>
            <a:off x="548640" y="841248"/>
            <a:ext cx="8046720" cy="457200"/>
          </a:xfrm>
          <a:prstGeom prst="rect">
            <a:avLst/>
          </a:prstGeom>
          <a:noFill/>
          <a:ln/>
        </p:spPr>
        <p:txBody>
          <a:bodyPr wrap="square" lIns="0" tIns="0" rIns="0" bIns="0" rtlCol="0" anchor="ctr"/>
          <a:lstStyle/>
          <a:p>
            <a:pPr indent="0" marL="0">
              <a:buNone/>
            </a:pPr>
            <a:r>
              <a:rPr lang="en-US" sz="2400" dirty="0">
                <a:solidFill>
                  <a:srgbClr val="2C2520"/>
                </a:solidFill>
                <a:latin typeface="Georgia" pitchFamily="34" charset="0"/>
                <a:ea typeface="Georgia" pitchFamily="34" charset="-122"/>
                <a:cs typeface="Georgia" pitchFamily="34" charset="-120"/>
              </a:rPr>
              <a:t>Glow &amp; Grow</a:t>
            </a:r>
            <a:endParaRPr lang="en-US" sz="2400" dirty="0"/>
          </a:p>
        </p:txBody>
      </p:sp>
      <p:sp>
        <p:nvSpPr>
          <p:cNvPr id="6" name="Text 3"/>
          <p:cNvSpPr/>
          <p:nvPr/>
        </p:nvSpPr>
        <p:spPr>
          <a:xfrm>
            <a:off x="2286000" y="1371600"/>
            <a:ext cx="3063240" cy="274320"/>
          </a:xfrm>
          <a:prstGeom prst="rect">
            <a:avLst/>
          </a:prstGeom>
          <a:noFill/>
          <a:ln/>
        </p:spPr>
        <p:txBody>
          <a:bodyPr wrap="square" lIns="0" tIns="0" rIns="0" bIns="0" rtlCol="0" anchor="ctr"/>
          <a:lstStyle/>
          <a:p>
            <a:pPr algn="ctr" indent="0" marL="0">
              <a:buNone/>
            </a:pPr>
            <a:r>
              <a:rPr lang="en-US" sz="1000" b="1" spc="300" kern="0" dirty="0">
                <a:solidFill>
                  <a:srgbClr val="9A7A2A"/>
                </a:solidFill>
                <a:latin typeface="Trebuchet MS" pitchFamily="34" charset="0"/>
                <a:ea typeface="Trebuchet MS" pitchFamily="34" charset="-122"/>
                <a:cs typeface="Trebuchet MS" pitchFamily="34" charset="-120"/>
              </a:rPr>
              <a:t>GLOW</a:t>
            </a:r>
            <a:endParaRPr lang="en-US" sz="1000" dirty="0"/>
          </a:p>
        </p:txBody>
      </p:sp>
      <p:sp>
        <p:nvSpPr>
          <p:cNvPr id="7" name="Text 4"/>
          <p:cNvSpPr/>
          <p:nvPr/>
        </p:nvSpPr>
        <p:spPr>
          <a:xfrm>
            <a:off x="5532120" y="1371600"/>
            <a:ext cx="3063240" cy="274320"/>
          </a:xfrm>
          <a:prstGeom prst="rect">
            <a:avLst/>
          </a:prstGeom>
          <a:noFill/>
          <a:ln/>
        </p:spPr>
        <p:txBody>
          <a:bodyPr wrap="square" lIns="0" tIns="0" rIns="0" bIns="0" rtlCol="0" anchor="ctr"/>
          <a:lstStyle/>
          <a:p>
            <a:pPr algn="ctr" indent="0" marL="0">
              <a:buNone/>
            </a:pPr>
            <a:r>
              <a:rPr lang="en-US" sz="1000" b="1" spc="300" kern="0" dirty="0">
                <a:solidFill>
                  <a:srgbClr val="1A7A6B"/>
                </a:solidFill>
                <a:latin typeface="Trebuchet MS" pitchFamily="34" charset="0"/>
                <a:ea typeface="Trebuchet MS" pitchFamily="34" charset="-122"/>
                <a:cs typeface="Trebuchet MS" pitchFamily="34" charset="-120"/>
              </a:rPr>
              <a:t>GROW</a:t>
            </a:r>
            <a:endParaRPr lang="en-US" sz="1000" dirty="0"/>
          </a:p>
        </p:txBody>
      </p:sp>
      <p:sp>
        <p:nvSpPr>
          <p:cNvPr id="8" name="Shape 5"/>
          <p:cNvSpPr/>
          <p:nvPr/>
        </p:nvSpPr>
        <p:spPr>
          <a:xfrm>
            <a:off x="548640" y="1719072"/>
            <a:ext cx="1600200" cy="868680"/>
          </a:xfrm>
          <a:prstGeom prst="rect">
            <a:avLst/>
          </a:prstGeom>
          <a:solidFill>
            <a:srgbClr val="2C2520"/>
          </a:solidFill>
          <a:ln/>
        </p:spPr>
      </p:sp>
      <p:sp>
        <p:nvSpPr>
          <p:cNvPr id="9" name="Text 6"/>
          <p:cNvSpPr/>
          <p:nvPr/>
        </p:nvSpPr>
        <p:spPr>
          <a:xfrm>
            <a:off x="548640" y="1719072"/>
            <a:ext cx="1600200" cy="868680"/>
          </a:xfrm>
          <a:prstGeom prst="rect">
            <a:avLst/>
          </a:prstGeom>
          <a:noFill/>
          <a:ln/>
        </p:spPr>
        <p:txBody>
          <a:bodyPr wrap="square" lIns="0" tIns="0" rIns="0" bIns="0" rtlCol="0" anchor="ctr"/>
          <a:lstStyle/>
          <a:p>
            <a:pPr algn="ctr" indent="0" marL="0">
              <a:buNone/>
            </a:pPr>
            <a:r>
              <a:rPr lang="en-US" sz="1300" b="1" dirty="0">
                <a:solidFill>
                  <a:srgbClr val="F3EDE3"/>
                </a:solidFill>
                <a:latin typeface="Georgia" pitchFamily="34" charset="0"/>
                <a:ea typeface="Georgia" pitchFamily="34" charset="-122"/>
                <a:cs typeface="Georgia" pitchFamily="34" charset="-120"/>
              </a:rPr>
              <a:t>Me</a:t>
            </a:r>
            <a:endParaRPr lang="en-US" sz="1300" dirty="0"/>
          </a:p>
        </p:txBody>
      </p:sp>
      <p:sp>
        <p:nvSpPr>
          <p:cNvPr id="10" name="Shape 7"/>
          <p:cNvSpPr/>
          <p:nvPr/>
        </p:nvSpPr>
        <p:spPr>
          <a:xfrm>
            <a:off x="2286000" y="1719072"/>
            <a:ext cx="3063240" cy="868680"/>
          </a:xfrm>
          <a:prstGeom prst="rect">
            <a:avLst/>
          </a:prstGeom>
          <a:solidFill>
            <a:srgbClr val="FAF4EA"/>
          </a:solidFill>
          <a:ln w="6350">
            <a:solidFill>
              <a:srgbClr val="E8DFD0"/>
            </a:solidFill>
            <a:prstDash val="solid"/>
          </a:ln>
        </p:spPr>
      </p:sp>
      <p:sp>
        <p:nvSpPr>
          <p:cNvPr id="11" name="Text 8"/>
          <p:cNvSpPr/>
          <p:nvPr/>
        </p:nvSpPr>
        <p:spPr>
          <a:xfrm>
            <a:off x="2395728" y="1719072"/>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One question at a time, then wait. The quiet did more teaching than I did.</a:t>
            </a:r>
            <a:endParaRPr lang="en-US" sz="1050" dirty="0"/>
          </a:p>
        </p:txBody>
      </p:sp>
      <p:sp>
        <p:nvSpPr>
          <p:cNvPr id="12" name="Shape 9"/>
          <p:cNvSpPr/>
          <p:nvPr/>
        </p:nvSpPr>
        <p:spPr>
          <a:xfrm>
            <a:off x="5532120" y="1719072"/>
            <a:ext cx="3063240" cy="868680"/>
          </a:xfrm>
          <a:prstGeom prst="rect">
            <a:avLst/>
          </a:prstGeom>
          <a:solidFill>
            <a:srgbClr val="EEF7F5"/>
          </a:solidFill>
          <a:ln w="6350">
            <a:solidFill>
              <a:srgbClr val="E8DFD0"/>
            </a:solidFill>
            <a:prstDash val="solid"/>
          </a:ln>
        </p:spPr>
      </p:sp>
      <p:sp>
        <p:nvSpPr>
          <p:cNvPr id="13" name="Text 10"/>
          <p:cNvSpPr/>
          <p:nvPr/>
        </p:nvSpPr>
        <p:spPr>
          <a:xfrm>
            <a:off x="5641848" y="1719072"/>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I handed her the Magic E answer instead of letting her guess first. Next time I ask twice before I tell.</a:t>
            </a:r>
            <a:endParaRPr lang="en-US" sz="1050" dirty="0"/>
          </a:p>
        </p:txBody>
      </p:sp>
      <p:sp>
        <p:nvSpPr>
          <p:cNvPr id="14" name="Shape 11"/>
          <p:cNvSpPr/>
          <p:nvPr/>
        </p:nvSpPr>
        <p:spPr>
          <a:xfrm>
            <a:off x="548640" y="2706624"/>
            <a:ext cx="1600200" cy="868680"/>
          </a:xfrm>
          <a:prstGeom prst="rect">
            <a:avLst/>
          </a:prstGeom>
          <a:solidFill>
            <a:srgbClr val="2C2520"/>
          </a:solidFill>
          <a:ln/>
        </p:spPr>
      </p:sp>
      <p:sp>
        <p:nvSpPr>
          <p:cNvPr id="15" name="Text 12"/>
          <p:cNvSpPr/>
          <p:nvPr/>
        </p:nvSpPr>
        <p:spPr>
          <a:xfrm>
            <a:off x="548640" y="2706624"/>
            <a:ext cx="1600200" cy="868680"/>
          </a:xfrm>
          <a:prstGeom prst="rect">
            <a:avLst/>
          </a:prstGeom>
          <a:noFill/>
          <a:ln/>
        </p:spPr>
        <p:txBody>
          <a:bodyPr wrap="square" lIns="0" tIns="0" rIns="0" bIns="0" rtlCol="0" anchor="ctr"/>
          <a:lstStyle/>
          <a:p>
            <a:pPr algn="ctr" indent="0" marL="0">
              <a:buNone/>
            </a:pPr>
            <a:r>
              <a:rPr lang="en-US" sz="1300" b="1" dirty="0">
                <a:solidFill>
                  <a:srgbClr val="F3EDE3"/>
                </a:solidFill>
                <a:latin typeface="Georgia" pitchFamily="34" charset="0"/>
                <a:ea typeface="Georgia" pitchFamily="34" charset="-122"/>
                <a:cs typeface="Georgia" pitchFamily="34" charset="-120"/>
              </a:rPr>
              <a:t>The Reader</a:t>
            </a:r>
            <a:endParaRPr lang="en-US" sz="1300" dirty="0"/>
          </a:p>
        </p:txBody>
      </p:sp>
      <p:sp>
        <p:nvSpPr>
          <p:cNvPr id="16" name="Shape 13"/>
          <p:cNvSpPr/>
          <p:nvPr/>
        </p:nvSpPr>
        <p:spPr>
          <a:xfrm>
            <a:off x="2286000" y="2706624"/>
            <a:ext cx="3063240" cy="868680"/>
          </a:xfrm>
          <a:prstGeom prst="rect">
            <a:avLst/>
          </a:prstGeom>
          <a:solidFill>
            <a:srgbClr val="FAF4EA"/>
          </a:solidFill>
          <a:ln w="6350">
            <a:solidFill>
              <a:srgbClr val="E8DFD0"/>
            </a:solidFill>
            <a:prstDash val="solid"/>
          </a:ln>
        </p:spPr>
      </p:sp>
      <p:sp>
        <p:nvSpPr>
          <p:cNvPr id="17" name="Text 14"/>
          <p:cNvSpPr/>
          <p:nvPr/>
        </p:nvSpPr>
        <p:spPr>
          <a:xfrm>
            <a:off x="2395728" y="2706624"/>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Spelled every word out loud before saying it, and called real or silly on her own by the end.</a:t>
            </a:r>
            <a:endParaRPr lang="en-US" sz="1050" dirty="0"/>
          </a:p>
        </p:txBody>
      </p:sp>
      <p:sp>
        <p:nvSpPr>
          <p:cNvPr id="18" name="Shape 15"/>
          <p:cNvSpPr/>
          <p:nvPr/>
        </p:nvSpPr>
        <p:spPr>
          <a:xfrm>
            <a:off x="5532120" y="2706624"/>
            <a:ext cx="3063240" cy="868680"/>
          </a:xfrm>
          <a:prstGeom prst="rect">
            <a:avLst/>
          </a:prstGeom>
          <a:solidFill>
            <a:srgbClr val="EEF7F5"/>
          </a:solidFill>
          <a:ln w="6350">
            <a:solidFill>
              <a:srgbClr val="E8DFD0"/>
            </a:solidFill>
            <a:prstDash val="solid"/>
          </a:ln>
        </p:spPr>
      </p:sp>
      <p:sp>
        <p:nvSpPr>
          <p:cNvPr id="19" name="Text 16"/>
          <p:cNvSpPr/>
          <p:nvPr/>
        </p:nvSpPr>
        <p:spPr>
          <a:xfrm>
            <a:off x="5641848" y="2706624"/>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Short vowel sounds still wobble, ah versus A. The wand gave her the why. Now she needs the reps.</a:t>
            </a:r>
            <a:endParaRPr lang="en-US" sz="1050" dirty="0"/>
          </a:p>
        </p:txBody>
      </p:sp>
      <p:sp>
        <p:nvSpPr>
          <p:cNvPr id="20" name="Shape 17"/>
          <p:cNvSpPr/>
          <p:nvPr/>
        </p:nvSpPr>
        <p:spPr>
          <a:xfrm>
            <a:off x="548640" y="3694176"/>
            <a:ext cx="1600200" cy="868680"/>
          </a:xfrm>
          <a:prstGeom prst="rect">
            <a:avLst/>
          </a:prstGeom>
          <a:solidFill>
            <a:srgbClr val="2C2520"/>
          </a:solidFill>
          <a:ln/>
        </p:spPr>
      </p:sp>
      <p:sp>
        <p:nvSpPr>
          <p:cNvPr id="21" name="Text 18"/>
          <p:cNvSpPr/>
          <p:nvPr/>
        </p:nvSpPr>
        <p:spPr>
          <a:xfrm>
            <a:off x="548640" y="3694176"/>
            <a:ext cx="1600200" cy="868680"/>
          </a:xfrm>
          <a:prstGeom prst="rect">
            <a:avLst/>
          </a:prstGeom>
          <a:noFill/>
          <a:ln/>
        </p:spPr>
        <p:txBody>
          <a:bodyPr wrap="square" lIns="0" tIns="0" rIns="0" bIns="0" rtlCol="0" anchor="ctr"/>
          <a:lstStyle/>
          <a:p>
            <a:pPr algn="ctr" indent="0" marL="0">
              <a:buNone/>
            </a:pPr>
            <a:r>
              <a:rPr lang="en-US" sz="1300" b="1" dirty="0">
                <a:solidFill>
                  <a:srgbClr val="F3EDE3"/>
                </a:solidFill>
                <a:latin typeface="Georgia" pitchFamily="34" charset="0"/>
                <a:ea typeface="Georgia" pitchFamily="34" charset="-122"/>
                <a:cs typeface="Georgia" pitchFamily="34" charset="-120"/>
              </a:rPr>
              <a:t>The Horse</a:t>
            </a:r>
            <a:endParaRPr lang="en-US" sz="1300" dirty="0"/>
          </a:p>
        </p:txBody>
      </p:sp>
      <p:sp>
        <p:nvSpPr>
          <p:cNvPr id="22" name="Shape 19"/>
          <p:cNvSpPr/>
          <p:nvPr/>
        </p:nvSpPr>
        <p:spPr>
          <a:xfrm>
            <a:off x="2286000" y="3694176"/>
            <a:ext cx="3063240" cy="868680"/>
          </a:xfrm>
          <a:prstGeom prst="rect">
            <a:avLst/>
          </a:prstGeom>
          <a:solidFill>
            <a:srgbClr val="FAF4EA"/>
          </a:solidFill>
          <a:ln w="6350">
            <a:solidFill>
              <a:srgbClr val="E8DFD0"/>
            </a:solidFill>
            <a:prstDash val="solid"/>
          </a:ln>
        </p:spPr>
      </p:sp>
      <p:sp>
        <p:nvSpPr>
          <p:cNvPr id="23" name="Text 20"/>
          <p:cNvSpPr/>
          <p:nvPr/>
        </p:nvSpPr>
        <p:spPr>
          <a:xfrm>
            <a:off x="2395728" y="3694176"/>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He picked word cards like he was dealt into the game, then stood like a stone while she read.</a:t>
            </a:r>
            <a:endParaRPr lang="en-US" sz="1050" dirty="0"/>
          </a:p>
        </p:txBody>
      </p:sp>
      <p:sp>
        <p:nvSpPr>
          <p:cNvPr id="24" name="Shape 21"/>
          <p:cNvSpPr/>
          <p:nvPr/>
        </p:nvSpPr>
        <p:spPr>
          <a:xfrm>
            <a:off x="5532120" y="3694176"/>
            <a:ext cx="3063240" cy="868680"/>
          </a:xfrm>
          <a:prstGeom prst="rect">
            <a:avLst/>
          </a:prstGeom>
          <a:solidFill>
            <a:srgbClr val="EEF7F5"/>
          </a:solidFill>
          <a:ln w="6350">
            <a:solidFill>
              <a:srgbClr val="E8DFD0"/>
            </a:solidFill>
            <a:prstDash val="solid"/>
          </a:ln>
        </p:spPr>
      </p:sp>
      <p:sp>
        <p:nvSpPr>
          <p:cNvPr id="25" name="Text 22"/>
          <p:cNvSpPr/>
          <p:nvPr/>
        </p:nvSpPr>
        <p:spPr>
          <a:xfrm>
            <a:off x="5641848" y="3694176"/>
            <a:ext cx="2843784" cy="868680"/>
          </a:xfrm>
          <a:prstGeom prst="rect">
            <a:avLst/>
          </a:prstGeom>
          <a:noFill/>
          <a:ln/>
        </p:spPr>
        <p:txBody>
          <a:bodyPr wrap="square" lIns="0" tIns="0" rIns="0" bIns="0" rtlCol="0" anchor="ctr"/>
          <a:lstStyle/>
          <a:p>
            <a:pPr indent="0" marL="0">
              <a:buNone/>
            </a:pPr>
            <a:r>
              <a:rPr lang="en-US" sz="1050" dirty="0">
                <a:solidFill>
                  <a:srgbClr val="2C2520"/>
                </a:solidFill>
                <a:latin typeface="Trebuchet MS" pitchFamily="34" charset="0"/>
                <a:ea typeface="Trebuchet MS" pitchFamily="34" charset="-122"/>
                <a:cs typeface="Trebuchet MS" pitchFamily="34" charset="-120"/>
              </a:rPr>
              <a:t>Walking a cone line past loose hay without a snack stop is still a lesson in progress.</a:t>
            </a:r>
            <a:endParaRPr lang="en-US" sz="1050" dirty="0"/>
          </a:p>
        </p:txBody>
      </p:sp>
      <p:sp>
        <p:nvSpPr>
          <p:cNvPr id="26" name="Shape 23"/>
          <p:cNvSpPr/>
          <p:nvPr/>
        </p:nvSpPr>
        <p:spPr>
          <a:xfrm>
            <a:off x="548640" y="4828032"/>
            <a:ext cx="8046720" cy="0"/>
          </a:xfrm>
          <a:prstGeom prst="line">
            <a:avLst/>
          </a:prstGeom>
          <a:noFill/>
          <a:ln w="9525">
            <a:solidFill>
              <a:srgbClr val="E0D6C8"/>
            </a:solidFill>
            <a:prstDash val="solid"/>
          </a:ln>
        </p:spPr>
      </p:sp>
      <p:sp>
        <p:nvSpPr>
          <p:cNvPr id="27" name="Text 24"/>
          <p:cNvSpPr/>
          <p:nvPr/>
        </p:nvSpPr>
        <p:spPr>
          <a:xfrm>
            <a:off x="548640" y="4864608"/>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28" name="Text 25"/>
          <p:cNvSpPr/>
          <p:nvPr/>
        </p:nvSpPr>
        <p:spPr>
          <a:xfrm>
            <a:off x="5852160" y="4864608"/>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C2520"/>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D4A843"/>
          </a:solidFill>
          <a:ln/>
        </p:spPr>
      </p:sp>
      <p:sp>
        <p:nvSpPr>
          <p:cNvPr id="3" name="Shape 1"/>
          <p:cNvSpPr/>
          <p:nvPr/>
        </p:nvSpPr>
        <p:spPr>
          <a:xfrm>
            <a:off x="0" y="5088636"/>
            <a:ext cx="9144000" cy="54864"/>
          </a:xfrm>
          <a:prstGeom prst="rect">
            <a:avLst/>
          </a:prstGeom>
          <a:solidFill>
            <a:srgbClr val="D4A843"/>
          </a:solidFill>
          <a:ln/>
        </p:spPr>
      </p:sp>
      <p:pic>
        <p:nvPicPr>
          <p:cNvPr id="4" name="Image 0" descr="preencoded.png">    </p:cNvPr>
          <p:cNvPicPr>
            <a:picLocks noChangeAspect="1"/>
          </p:cNvPicPr>
          <p:nvPr/>
        </p:nvPicPr>
        <p:blipFill>
          <a:blip r:embed="rId1"/>
          <a:stretch>
            <a:fillRect/>
          </a:stretch>
        </p:blipFill>
        <p:spPr>
          <a:xfrm>
            <a:off x="4023360" y="502920"/>
            <a:ext cx="1097280" cy="1097280"/>
          </a:xfrm>
          <a:prstGeom prst="rect">
            <a:avLst/>
          </a:prstGeom>
        </p:spPr>
      </p:pic>
      <p:sp>
        <p:nvSpPr>
          <p:cNvPr id="5" name="Text 2"/>
          <p:cNvSpPr/>
          <p:nvPr/>
        </p:nvSpPr>
        <p:spPr>
          <a:xfrm>
            <a:off x="914400" y="1783080"/>
            <a:ext cx="7315200" cy="320040"/>
          </a:xfrm>
          <a:prstGeom prst="rect">
            <a:avLst/>
          </a:prstGeom>
          <a:noFill/>
          <a:ln/>
        </p:spPr>
        <p:txBody>
          <a:bodyPr wrap="square" lIns="0" tIns="0" rIns="0" bIns="0" rtlCol="0" anchor="ctr"/>
          <a:lstStyle/>
          <a:p>
            <a:pPr algn="ctr" indent="0" marL="0">
              <a:buNone/>
            </a:pPr>
            <a:r>
              <a:rPr lang="en-US" sz="1100" b="1" spc="400" kern="0" dirty="0">
                <a:solidFill>
                  <a:srgbClr val="D4A843"/>
                </a:solidFill>
                <a:latin typeface="Trebuchet MS" pitchFamily="34" charset="0"/>
                <a:ea typeface="Trebuchet MS" pitchFamily="34" charset="-122"/>
                <a:cs typeface="Trebuchet MS" pitchFamily="34" charset="-120"/>
              </a:rPr>
              <a:t>PLANTING HPR ROOTS IN NORTH IDAHO</a:t>
            </a:r>
            <a:endParaRPr lang="en-US" sz="1100" dirty="0"/>
          </a:p>
        </p:txBody>
      </p:sp>
      <p:sp>
        <p:nvSpPr>
          <p:cNvPr id="6" name="Text 3"/>
          <p:cNvSpPr/>
          <p:nvPr/>
        </p:nvSpPr>
        <p:spPr>
          <a:xfrm>
            <a:off x="914400" y="2103120"/>
            <a:ext cx="7315200" cy="548640"/>
          </a:xfrm>
          <a:prstGeom prst="rect">
            <a:avLst/>
          </a:prstGeom>
          <a:noFill/>
          <a:ln/>
        </p:spPr>
        <p:txBody>
          <a:bodyPr wrap="square" lIns="0" tIns="0" rIns="0" bIns="0" rtlCol="0" anchor="ctr"/>
          <a:lstStyle/>
          <a:p>
            <a:pPr algn="ctr" indent="0" marL="0">
              <a:buNone/>
            </a:pPr>
            <a:r>
              <a:rPr lang="en-US" sz="2800" dirty="0">
                <a:solidFill>
                  <a:srgbClr val="F3EDE3"/>
                </a:solidFill>
                <a:latin typeface="Georgia" pitchFamily="34" charset="0"/>
                <a:ea typeface="Georgia" pitchFamily="34" charset="-122"/>
                <a:cs typeface="Georgia" pitchFamily="34" charset="-120"/>
              </a:rPr>
              <a:t>Where This Goes From Here</a:t>
            </a:r>
            <a:endParaRPr lang="en-US" sz="2800" dirty="0"/>
          </a:p>
        </p:txBody>
      </p:sp>
      <p:sp>
        <p:nvSpPr>
          <p:cNvPr id="7" name="Text 4"/>
          <p:cNvSpPr/>
          <p:nvPr/>
        </p:nvSpPr>
        <p:spPr>
          <a:xfrm>
            <a:off x="1371600" y="2834640"/>
            <a:ext cx="6400800" cy="914400"/>
          </a:xfrm>
          <a:prstGeom prst="rect">
            <a:avLst/>
          </a:prstGeom>
          <a:noFill/>
          <a:ln/>
        </p:spPr>
        <p:txBody>
          <a:bodyPr wrap="square" lIns="0" tIns="0" rIns="0" bIns="0" rtlCol="0" anchor="ctr"/>
          <a:lstStyle/>
          <a:p>
            <a:pPr algn="ctr" indent="0" marL="0">
              <a:buNone/>
            </a:pPr>
            <a:r>
              <a:rPr lang="en-US" sz="1300" i="1" dirty="0">
                <a:solidFill>
                  <a:srgbClr val="C8A96E"/>
                </a:solidFill>
                <a:latin typeface="Georgia" pitchFamily="34" charset="0"/>
                <a:ea typeface="Georgia" pitchFamily="34" charset="-122"/>
                <a:cs typeface="Georgia" pitchFamily="34" charset="-120"/>
              </a:rPr>
              <a:t>Horse Powered Reading folds into Tribal Cowboy's Pony Express Program: reading sessions at the ranch and school visits across Kootenai and Bonner counties, starting with the kids reading below grade level.</a:t>
            </a:r>
            <a:endParaRPr lang="en-US" sz="1300" dirty="0"/>
          </a:p>
        </p:txBody>
      </p:sp>
      <p:sp>
        <p:nvSpPr>
          <p:cNvPr id="8" name="Shape 5"/>
          <p:cNvSpPr/>
          <p:nvPr/>
        </p:nvSpPr>
        <p:spPr>
          <a:xfrm>
            <a:off x="4023360" y="3931920"/>
            <a:ext cx="1097280" cy="0"/>
          </a:xfrm>
          <a:prstGeom prst="line">
            <a:avLst/>
          </a:prstGeom>
          <a:noFill/>
          <a:ln w="19050">
            <a:solidFill>
              <a:srgbClr val="D4A843"/>
            </a:solidFill>
            <a:prstDash val="solid"/>
          </a:ln>
        </p:spPr>
      </p:sp>
      <p:sp>
        <p:nvSpPr>
          <p:cNvPr id="9" name="Text 6"/>
          <p:cNvSpPr/>
          <p:nvPr/>
        </p:nvSpPr>
        <p:spPr>
          <a:xfrm>
            <a:off x="914400" y="4069080"/>
            <a:ext cx="7315200" cy="320040"/>
          </a:xfrm>
          <a:prstGeom prst="rect">
            <a:avLst/>
          </a:prstGeom>
          <a:noFill/>
          <a:ln/>
        </p:spPr>
        <p:txBody>
          <a:bodyPr wrap="square" lIns="0" tIns="0" rIns="0" bIns="0" rtlCol="0" anchor="ctr"/>
          <a:lstStyle/>
          <a:p>
            <a:pPr algn="ctr" indent="0" marL="0">
              <a:buNone/>
            </a:pPr>
            <a:r>
              <a:rPr lang="en-US" sz="1200" dirty="0">
                <a:solidFill>
                  <a:srgbClr val="F3EDE3"/>
                </a:solidFill>
                <a:latin typeface="Trebuchet MS" pitchFamily="34" charset="0"/>
                <a:ea typeface="Trebuchet MS" pitchFamily="34" charset="-122"/>
                <a:cs typeface="Trebuchet MS" pitchFamily="34" charset="-120"/>
              </a:rPr>
              <a:t>Thank you — and thank you to the horses.</a:t>
            </a:r>
            <a:endParaRPr lang="en-US" sz="1200" dirty="0"/>
          </a:p>
        </p:txBody>
      </p:sp>
      <p:sp>
        <p:nvSpPr>
          <p:cNvPr id="10" name="Text 7"/>
          <p:cNvSpPr/>
          <p:nvPr/>
        </p:nvSpPr>
        <p:spPr>
          <a:xfrm>
            <a:off x="548640" y="4709160"/>
            <a:ext cx="2743200" cy="228600"/>
          </a:xfrm>
          <a:prstGeom prst="rect">
            <a:avLst/>
          </a:prstGeom>
          <a:noFill/>
          <a:ln/>
        </p:spPr>
        <p:txBody>
          <a:bodyPr wrap="square" lIns="0" tIns="0" rIns="0" bIns="0" rtlCol="0" anchor="ctr"/>
          <a:lstStyle/>
          <a:p>
            <a:pPr indent="0" marL="0">
              <a:buNone/>
            </a:pPr>
            <a:r>
              <a:rPr lang="en-US" sz="800" dirty="0">
                <a:solidFill>
                  <a:srgbClr val="8A7560"/>
                </a:solidFill>
                <a:latin typeface="Trebuchet MS" pitchFamily="34" charset="0"/>
                <a:ea typeface="Trebuchet MS" pitchFamily="34" charset="-122"/>
                <a:cs typeface="Trebuchet MS" pitchFamily="34" charset="-120"/>
              </a:rPr>
              <a:t>www.tribalcowboy.com</a:t>
            </a:r>
            <a:endParaRPr lang="en-US" sz="800" dirty="0"/>
          </a:p>
        </p:txBody>
      </p:sp>
      <p:sp>
        <p:nvSpPr>
          <p:cNvPr id="11" name="Text 8"/>
          <p:cNvSpPr/>
          <p:nvPr/>
        </p:nvSpPr>
        <p:spPr>
          <a:xfrm>
            <a:off x="5852160" y="4709160"/>
            <a:ext cx="2743200" cy="228600"/>
          </a:xfrm>
          <a:prstGeom prst="rect">
            <a:avLst/>
          </a:prstGeom>
          <a:noFill/>
          <a:ln/>
        </p:spPr>
        <p:txBody>
          <a:bodyPr wrap="square" lIns="0" tIns="0" rIns="0" bIns="0" rtlCol="0" anchor="ctr"/>
          <a:lstStyle/>
          <a:p>
            <a:pPr algn="r" indent="0" marL="0">
              <a:buNone/>
            </a:pPr>
            <a:r>
              <a:rPr lang="en-US" sz="800" dirty="0">
                <a:solidFill>
                  <a:srgbClr val="8A7560"/>
                </a:solidFill>
                <a:latin typeface="Trebuchet MS" pitchFamily="34" charset="0"/>
                <a:ea typeface="Trebuchet MS" pitchFamily="34" charset="-122"/>
                <a:cs typeface="Trebuchet MS" pitchFamily="34" charset="-120"/>
              </a:rPr>
              <a:t>info@tribalcowboy.com</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2026-08-24T21:10:32Z</dcterms:created>
  <dcterms:modified xsi:type="dcterms:W3CDTF">2026-08-24T21:10:32Z</dcterms:modified>
</cp:coreProperties>
</file>